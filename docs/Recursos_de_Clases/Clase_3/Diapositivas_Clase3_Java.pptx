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74d6cda74a4520" /><Relationship Type="http://schemas.openxmlformats.org/officeDocument/2006/relationships/extended-properties" Target="/docProps/app.xml" Id="R95e1b73c6dcc4a65" /><Relationship Type="http://schemas.openxmlformats.org/officeDocument/2006/relationships/officeDocument" Target="/ppt/presentation.xml" Id="R65b3ac2aa32f4ed1" /></Relationships>
</file>

<file path=ppt/presentation.xml><?xml version="1.0" encoding="utf-8"?>
<p:presentation xmlns:p="http://schemas.openxmlformats.org/presentationml/2006/main">
  <p:sldMasterIdLst>
    <p:sldMasterId xmlns:r="http://schemas.openxmlformats.org/officeDocument/2006/relationships" id="2147483648" r:id="R2955221849124bb8"/>
  </p:sldMasterIdLst>
  <p:notesMasterIdLst>
    <p:notesMasterId xmlns:r="http://schemas.openxmlformats.org/officeDocument/2006/relationships" r:id="Rdfe9d19c8aa74db1"/>
  </p:notesMasterIdLst>
  <p:sldIdLst>
    <p:sldId xmlns:r="http://schemas.openxmlformats.org/officeDocument/2006/relationships" id="256" r:id="Rc8b36cc3938945cd"/>
    <p:sldId xmlns:r="http://schemas.openxmlformats.org/officeDocument/2006/relationships" id="257" r:id="R718074de77154438"/>
    <p:sldId xmlns:r="http://schemas.openxmlformats.org/officeDocument/2006/relationships" id="258" r:id="R278ff272ec3545e9"/>
    <p:sldId xmlns:r="http://schemas.openxmlformats.org/officeDocument/2006/relationships" id="259" r:id="R24a7d1577e2642df"/>
    <p:sldId xmlns:r="http://schemas.openxmlformats.org/officeDocument/2006/relationships" id="260" r:id="R9e389b4cb7ac4b6a"/>
    <p:sldId xmlns:r="http://schemas.openxmlformats.org/officeDocument/2006/relationships" id="261" r:id="R9fe30ae704e04409"/>
    <p:sldId xmlns:r="http://schemas.openxmlformats.org/officeDocument/2006/relationships" id="262" r:id="R005048a4ddc64a17"/>
    <p:sldId xmlns:r="http://schemas.openxmlformats.org/officeDocument/2006/relationships" id="263" r:id="Rec4023510d3b493a"/>
    <p:sldId xmlns:r="http://schemas.openxmlformats.org/officeDocument/2006/relationships" id="264" r:id="R892a39840092411f"/>
    <p:sldId xmlns:r="http://schemas.openxmlformats.org/officeDocument/2006/relationships" id="265" r:id="Rf3df3dbb05d443ad"/>
    <p:sldId xmlns:r="http://schemas.openxmlformats.org/officeDocument/2006/relationships" id="266" r:id="R089c1b80c6d8496e"/>
    <p:sldId xmlns:r="http://schemas.openxmlformats.org/officeDocument/2006/relationships" id="267" r:id="R33af89e48bf44ac5"/>
    <p:sldId xmlns:r="http://schemas.openxmlformats.org/officeDocument/2006/relationships" id="268" r:id="Rf6423e768e0f4a81"/>
    <p:sldId xmlns:r="http://schemas.openxmlformats.org/officeDocument/2006/relationships" id="269" r:id="R1994b0d27b3d4781"/>
    <p:sldId xmlns:r="http://schemas.openxmlformats.org/officeDocument/2006/relationships" id="270" r:id="R64ad6232f3424d61"/>
    <p:sldId xmlns:r="http://schemas.openxmlformats.org/officeDocument/2006/relationships" id="271" r:id="R998dcff862914c27"/>
    <p:sldId xmlns:r="http://schemas.openxmlformats.org/officeDocument/2006/relationships" id="272" r:id="Rec956b388d6942d8"/>
    <p:sldId xmlns:r="http://schemas.openxmlformats.org/officeDocument/2006/relationships" id="273" r:id="Rc5991a00f9e24c6b"/>
    <p:sldId xmlns:r="http://schemas.openxmlformats.org/officeDocument/2006/relationships" id="274" r:id="R39bad4ded2f14521"/>
    <p:sldId xmlns:r="http://schemas.openxmlformats.org/officeDocument/2006/relationships" id="275" r:id="R6e70671f37f54356"/>
    <p:sldId xmlns:r="http://schemas.openxmlformats.org/officeDocument/2006/relationships" id="276" r:id="R3e28e4388aba4967"/>
    <p:sldId xmlns:r="http://schemas.openxmlformats.org/officeDocument/2006/relationships" id="277" r:id="Rfce249c76b3e45d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31000335e44035" /><Relationship Type="http://schemas.openxmlformats.org/officeDocument/2006/relationships/slideMaster" Target="/ppt/slideMasters/slideMaster1.xml" Id="R2955221849124bb8" /><Relationship Type="http://schemas.openxmlformats.org/officeDocument/2006/relationships/notesMaster" Target="/ppt/notesMasters/notesMaster1.xml" Id="Rdfe9d19c8aa74db1" /><Relationship Type="http://schemas.openxmlformats.org/officeDocument/2006/relationships/presProps" Target="/ppt/presProps.xml" Id="Racf76bab5a964d19" /><Relationship Type="http://schemas.openxmlformats.org/officeDocument/2006/relationships/tableStyles" Target="/ppt/tableStyles.xml" Id="Rea3ca1b39f8b4aff" /><Relationship Type="http://schemas.openxmlformats.org/officeDocument/2006/relationships/slide" Target="/ppt/slides/slide1.xml" Id="Rc8b36cc3938945cd" /><Relationship Type="http://schemas.openxmlformats.org/officeDocument/2006/relationships/slide" Target="/ppt/slides/slide2.xml" Id="R718074de77154438" /><Relationship Type="http://schemas.openxmlformats.org/officeDocument/2006/relationships/slide" Target="/ppt/slides/slide3.xml" Id="R278ff272ec3545e9" /><Relationship Type="http://schemas.openxmlformats.org/officeDocument/2006/relationships/slide" Target="/ppt/slides/slide4.xml" Id="R24a7d1577e2642df" /><Relationship Type="http://schemas.openxmlformats.org/officeDocument/2006/relationships/slide" Target="/ppt/slides/slide5.xml" Id="R9e389b4cb7ac4b6a" /><Relationship Type="http://schemas.openxmlformats.org/officeDocument/2006/relationships/slide" Target="/ppt/slides/slide6.xml" Id="R9fe30ae704e04409" /><Relationship Type="http://schemas.openxmlformats.org/officeDocument/2006/relationships/slide" Target="/ppt/slides/slide7.xml" Id="R005048a4ddc64a17" /><Relationship Type="http://schemas.openxmlformats.org/officeDocument/2006/relationships/slide" Target="/ppt/slides/slide8.xml" Id="Rec4023510d3b493a" /><Relationship Type="http://schemas.openxmlformats.org/officeDocument/2006/relationships/slide" Target="/ppt/slides/slide9.xml" Id="R892a39840092411f" /><Relationship Type="http://schemas.openxmlformats.org/officeDocument/2006/relationships/slide" Target="/ppt/slides/slide10.xml" Id="Rf3df3dbb05d443ad" /><Relationship Type="http://schemas.openxmlformats.org/officeDocument/2006/relationships/slide" Target="/ppt/slides/slide11.xml" Id="R089c1b80c6d8496e" /><Relationship Type="http://schemas.openxmlformats.org/officeDocument/2006/relationships/slide" Target="/ppt/slides/slide12.xml" Id="R33af89e48bf44ac5" /><Relationship Type="http://schemas.openxmlformats.org/officeDocument/2006/relationships/slide" Target="/ppt/slides/slide13.xml" Id="Rf6423e768e0f4a81" /><Relationship Type="http://schemas.openxmlformats.org/officeDocument/2006/relationships/slide" Target="/ppt/slides/slide14.xml" Id="R1994b0d27b3d4781" /><Relationship Type="http://schemas.openxmlformats.org/officeDocument/2006/relationships/slide" Target="/ppt/slides/slide15.xml" Id="R64ad6232f3424d61" /><Relationship Type="http://schemas.openxmlformats.org/officeDocument/2006/relationships/slide" Target="/ppt/slides/slide16.xml" Id="R998dcff862914c27" /><Relationship Type="http://schemas.openxmlformats.org/officeDocument/2006/relationships/slide" Target="/ppt/slides/slide17.xml" Id="Rec956b388d6942d8" /><Relationship Type="http://schemas.openxmlformats.org/officeDocument/2006/relationships/slide" Target="/ppt/slides/slide18.xml" Id="Rc5991a00f9e24c6b" /><Relationship Type="http://schemas.openxmlformats.org/officeDocument/2006/relationships/slide" Target="/ppt/slides/slide19.xml" Id="R39bad4ded2f14521" /><Relationship Type="http://schemas.openxmlformats.org/officeDocument/2006/relationships/slide" Target="/ppt/slides/slide20.xml" Id="R6e70671f37f54356" /><Relationship Type="http://schemas.openxmlformats.org/officeDocument/2006/relationships/slide" Target="/ppt/slides/slide21.xml" Id="R3e28e4388aba4967" /><Relationship Type="http://schemas.openxmlformats.org/officeDocument/2006/relationships/slide" Target="/ppt/slides/slide22.xml" Id="Rfce249c76b3e45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e7c3b2e33947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9bd2c9c7b849df" /><Relationship Type="http://schemas.openxmlformats.org/officeDocument/2006/relationships/notesMaster" Target="/ppt/notesMasters/notesMaster1.xml" Id="Rb8aae98d977546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0cc1df58884d46" /><Relationship Type="http://schemas.openxmlformats.org/officeDocument/2006/relationships/notesMaster" Target="/ppt/notesMasters/notesMaster1.xml" Id="R86c9ef09e4f94f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25d37114564c8a" /><Relationship Type="http://schemas.openxmlformats.org/officeDocument/2006/relationships/notesMaster" Target="/ppt/notesMasters/notesMaster1.xml" Id="R7608cbde71e345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622f6d099d479b" /><Relationship Type="http://schemas.openxmlformats.org/officeDocument/2006/relationships/notesMaster" Target="/ppt/notesMasters/notesMaster1.xml" Id="R7fbbcfabb19840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966cc986224d21" /><Relationship Type="http://schemas.openxmlformats.org/officeDocument/2006/relationships/notesMaster" Target="/ppt/notesMasters/notesMaster1.xml" Id="R4312682659db4d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490f4528da4f1e" /><Relationship Type="http://schemas.openxmlformats.org/officeDocument/2006/relationships/notesMaster" Target="/ppt/notesMasters/notesMaster1.xml" Id="Ra891f70ca79d41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ad27edb8f8432a" /><Relationship Type="http://schemas.openxmlformats.org/officeDocument/2006/relationships/notesMaster" Target="/ppt/notesMasters/notesMaster1.xml" Id="R591b33b994cb4b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6a3f1fee7249c4" /><Relationship Type="http://schemas.openxmlformats.org/officeDocument/2006/relationships/notesMaster" Target="/ppt/notesMasters/notesMaster1.xml" Id="Ra85d0c84da6142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93a791872c449a" /><Relationship Type="http://schemas.openxmlformats.org/officeDocument/2006/relationships/notesMaster" Target="/ppt/notesMasters/notesMaster1.xml" Id="R81ccdc891a4d4e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7880ab7de141c4" /><Relationship Type="http://schemas.openxmlformats.org/officeDocument/2006/relationships/notesMaster" Target="/ppt/notesMasters/notesMaster1.xml" Id="R086fe04c4f494f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67a5ac57b84260" /><Relationship Type="http://schemas.openxmlformats.org/officeDocument/2006/relationships/notesMaster" Target="/ppt/notesMasters/notesMaster1.xml" Id="Rcdd1acd8a1fe4d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3e37f083654de9" /><Relationship Type="http://schemas.openxmlformats.org/officeDocument/2006/relationships/notesMaster" Target="/ppt/notesMasters/notesMaster1.xml" Id="R820fc1578f0a4cd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ce2d953fda4f24" /><Relationship Type="http://schemas.openxmlformats.org/officeDocument/2006/relationships/notesMaster" Target="/ppt/notesMasters/notesMaster1.xml" Id="Rf853a3181c884b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92b82f9e676428e" /><Relationship Type="http://schemas.openxmlformats.org/officeDocument/2006/relationships/notesMaster" Target="/ppt/notesMasters/notesMaster1.xml" Id="Rdd8c7d4558d2484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fce6e4e6cbd4984" /><Relationship Type="http://schemas.openxmlformats.org/officeDocument/2006/relationships/notesMaster" Target="/ppt/notesMasters/notesMaster1.xml" Id="R39d2a655a5b0457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77ad494fa64172" /><Relationship Type="http://schemas.openxmlformats.org/officeDocument/2006/relationships/notesMaster" Target="/ppt/notesMasters/notesMaster1.xml" Id="Rd89067b7ace14b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a22a11cf80f4202" /><Relationship Type="http://schemas.openxmlformats.org/officeDocument/2006/relationships/notesMaster" Target="/ppt/notesMasters/notesMaster1.xml" Id="R9ebdd21ee58c477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123f30264f647d2" /><Relationship Type="http://schemas.openxmlformats.org/officeDocument/2006/relationships/notesMaster" Target="/ppt/notesMasters/notesMaster1.xml" Id="R3df68f1c73c2457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a057ec15bf14e33" /><Relationship Type="http://schemas.openxmlformats.org/officeDocument/2006/relationships/notesMaster" Target="/ppt/notesMasters/notesMaster1.xml" Id="R5699bea7975047c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537232745394d00" /><Relationship Type="http://schemas.openxmlformats.org/officeDocument/2006/relationships/notesMaster" Target="/ppt/notesMasters/notesMaster1.xml" Id="Rd60b06b556e7460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2a4faddd6cb4317" /><Relationship Type="http://schemas.openxmlformats.org/officeDocument/2006/relationships/notesMaster" Target="/ppt/notesMasters/notesMaster1.xml" Id="Re13ee9d6aa9a43b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3932485994847dc" /><Relationship Type="http://schemas.openxmlformats.org/officeDocument/2006/relationships/notesMaster" Target="/ppt/notesMasters/notesMaster1.xml" Id="R459024065ccf44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 minutos. Intervalo 0–1.</a:t>
            </a:r>
          </a:p>
          <a:p xmlns:a="http://schemas.openxmlformats.org/drawingml/2006/main">
            <a:r>
              <a:t/>
            </a:r>
          </a:p>
          <a:p xmlns:a="http://schemas.openxmlformats.org/drawingml/2006/main">
            <a:r>
              <a:t>GUION Y DINÁMICA</a:t>
            </a:r>
          </a:p>
          <a:p xmlns:a="http://schemas.openxmlformats.org/drawingml/2006/main">
            <a:r>
              <a:t>Presenta el objetivo: al terminar, cada pareja podrá crear objetos, modificar sus datos y explicar qué ocurre cuando dos referencias señalan al mismo objeto. Esta sesión supone que ya conocen variables, if, clases, atributos y new de las unidades 1 y 2. Prepara antes de clase el IDE, un proyecto vacío y una pizarra. Usa la vista del moderador para consultar este guion.</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 minutos. Intervalo 1–2.</a:t>
            </a:r>
          </a:p>
          <a:p xmlns:a="http://schemas.openxmlformats.org/drawingml/2006/main">
            <a:r>
              <a:t/>
            </a:r>
          </a:p>
          <a:p xmlns:a="http://schemas.openxmlformats.org/drawingml/2006/main">
            <a:r>
              <a:t>GUION Y DINÁMICA</a:t>
            </a:r>
          </a:p>
          <a:p xmlns:a="http://schemas.openxmlformats.org/drawingml/2006/main">
            <a:r>
              <a:t>Explica la distribución de los 60 minutos. El plan original dedica 120 minutos a esta unidad. Aquí se reduce el repaso y se guía el reto paso a paso. Mantén los espacios de práctica: si explicas todo seguido, no se cumple el propósito de la sesión. Antes de ejecutar, cada pareja debe escribir la salida esperada. El PDF propone trabajar sin celulares ni asistentes de IA durante la sesión.</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 Intervalo 2–5.</a:t>
            </a:r>
          </a:p>
          <a:p xmlns:a="http://schemas.openxmlformats.org/drawingml/2006/main">
            <a:r>
              <a:t/>
            </a:r>
          </a:p>
          <a:p xmlns:a="http://schemas.openxmlformats.org/drawingml/2006/main">
            <a:r>
              <a:t>GUION Y DINÁMICA</a:t>
            </a:r>
          </a:p>
          <a:p xmlns:a="http://schemas.openxmlformats.org/drawingml/2006/main">
            <a:r>
              <a:t>Dedica un minuto a que cada estudiante nombre cuatro atributos con sus tipos y describa dos celulares reales. Luego pregunta: ¿cuál es la clase?, ¿cuál es el atributo?, ¿cuál es la referencia? Respuestas: Celular, bateria y c1. Aclara que objeto e instancia se refieren aquí al mismo objeto, pero instancia destaca la clase a la que pertenece. La variable c1 almacena una referencia, no el objeto completo. El fragmento supone que existe la clase Celular con esos atributos.</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 minutos. Intervalo 5–7.</a:t>
            </a:r>
          </a:p>
          <a:p xmlns:a="http://schemas.openxmlformats.org/drawingml/2006/main">
            <a:r>
              <a:t/>
            </a:r>
          </a:p>
          <a:p xmlns:a="http://schemas.openxmlformats.org/drawingml/2006/main">
            <a:r>
              <a:t>GUION Y DINÁMICA</a:t>
            </a:r>
          </a:p>
          <a:p xmlns:a="http://schemas.openxmlformats.org/drawingml/2006/main">
            <a:r>
              <a:t>Relaciona esta clase con una tienda del barrio. Todos los productos necesitan nombre, precio y stock, pero cada producto tiene valores distintos. Guarda esta clase en Producto.java. Explica que estos atributos son de instancia porque no llevan static. El acceso directo funciona en los ejemplos al estar las clases en el mismo paquete. No añadas getters, setters ni herencia: el objetivo de esta unidad es practicar instancias.</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 Intervalo 7–10.</a:t>
            </a:r>
          </a:p>
          <a:p xmlns:a="http://schemas.openxmlformats.org/drawingml/2006/main">
            <a:r>
              <a:t/>
            </a:r>
          </a:p>
          <a:p xmlns:a="http://schemas.openxmlformats.org/drawingml/2006/main">
            <a:r>
              <a:t>GUION Y DINÁMICA</a:t>
            </a:r>
          </a:p>
          <a:p xmlns:a="http://schemas.openxmlformats.org/drawingml/2006/main">
            <a:r>
              <a:t>Lee primero las tres líneas que contienen new. Pregunta cuántos objetos existen: tres. Después identifica los datos de cada uno. Los valores iniciales son Lápiz 0.5 y 20, Cuaderno 2.0 y 10, Regla 1.0 y 8. La sintaxis en una sola línea agrupa asignaciones para ahorrar espacio, pero se pueden escribir en líneas separadas en el IDE. Haz que un estudiante explique qué significa p2.stock = 10.</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 Intervalo 10–13.</a:t>
            </a:r>
          </a:p>
          <a:p xmlns:a="http://schemas.openxmlformats.org/drawingml/2006/main">
            <a:r>
              <a:t/>
            </a:r>
          </a:p>
          <a:p xmlns:a="http://schemas.openxmlformats.org/drawingml/2006/main">
            <a:r>
              <a:t>GUION Y DINÁMICA</a:t>
            </a:r>
          </a:p>
          <a:p xmlns:a="http://schemas.openxmlformats.org/drawingml/2006/main">
            <a:r>
              <a:t>Da 45 segundos para predecir los cambios sin ejecutar. Después pide que expliquen por qué p1 no cambia: es un objeto diferente y ninguna instrucción modifica sus atributos. La salida es Lápiz : 0.5, Cuaderno : 2.0 y Regla : 1.5, cada uno en una línea. Para comprobar también el stock, agrega en el IDE System.out.println(p2.stock). Recalca que mostrar un dato y modificarlo son acciones distintas.</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 minutos. Intervalo 13–15.</a:t>
            </a:r>
          </a:p>
          <a:p xmlns:a="http://schemas.openxmlformats.org/drawingml/2006/main">
            <a:r>
              <a:t/>
            </a:r>
          </a:p>
          <a:p xmlns:a="http://schemas.openxmlformats.org/drawingml/2006/main">
            <a:r>
              <a:t>GUION Y DINÁMICA</a:t>
            </a:r>
          </a:p>
          <a:p xmlns:a="http://schemas.openxmlformats.org/drawingml/2006/main">
            <a:r>
              <a:t>Este es un ejemplo nuevo e independiente del anterior. Cuenta los new con el grupo: solo uno. Pregunta la salida y escucha dos respuestas antes de revelar la solución en la siguiente diapositiva. La asignación de una referencia no duplica los atributos ni crea un producto. Evita decir que p2 es una copia del objeto. Puedes comparar las variables con dos etiquetas pegadas en la misma caja.</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 minutos. Intervalo 15–17.</a:t>
            </a:r>
          </a:p>
          <a:p xmlns:a="http://schemas.openxmlformats.org/drawingml/2006/main">
            <a:r>
              <a:t/>
            </a:r>
          </a:p>
          <a:p xmlns:a="http://schemas.openxmlformats.org/drawingml/2006/main">
            <a:r>
              <a:t>GUION Y DINÁMICA</a:t>
            </a:r>
          </a:p>
          <a:p xmlns:a="http://schemas.openxmlformats.org/drawingml/2006/main">
            <a:r>
              <a:t>Representa el objeto con un compañero que sostiene una hoja con el nombre Lápiz. Otros dos compañeros representan p1 y p2 y señalan al primero. Al cambiar p2.nombre, cambia la hoja del objeto a Borrador. Pregunta al compañero p1 qué nombre ve. Ambos observan Borrador. Esta dramatización breve ayuda a separar la variable de referencia y el objeto al que apunta. No se necesita dibujar direcciones de memoria reales.</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 minutos. Intervalo 17–19.</a:t>
            </a:r>
          </a:p>
          <a:p xmlns:a="http://schemas.openxmlformats.org/drawingml/2006/main">
            <a:r>
              <a:t/>
            </a:r>
          </a:p>
          <a:p xmlns:a="http://schemas.openxmlformats.org/drawingml/2006/main">
            <a:r>
              <a:t>GUION Y DINÁMICA</a:t>
            </a:r>
          </a:p>
          <a:p xmlns:a="http://schemas.openxmlformats.org/drawingml/2006/main">
            <a:r>
              <a:t>Compara esta diapositiva con la anterior: la única diferencia esencial es new Producto() al inicializar p2. Cuenta los dos objetos y pide que expliquen la salida sin usar la frase porque sí. La respuesta esperada es que p1 y p2 señalan a productos distintos. Advertencia conceptual para responder preguntas: dos objetos pueden tener datos iguales y seguir siendo distintos objetos.</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 minutos. Intervalo 19–21.</a:t>
            </a:r>
          </a:p>
          <a:p xmlns:a="http://schemas.openxmlformats.org/drawingml/2006/main">
            <a:r>
              <a:t/>
            </a:r>
          </a:p>
          <a:p xmlns:a="http://schemas.openxmlformats.org/drawingml/2006/main">
            <a:r>
              <a:t>GUION Y DINÁMICA</a:t>
            </a:r>
          </a:p>
          <a:p xmlns:a="http://schemas.openxmlformats.org/drawingml/2006/main">
            <a:r>
              <a:t>Da un minuto para pensar individualmente y otro para revisar. Respuesta: 8 : 5. Hay dos objetos y tres variables de referencia. a y b comparten el primer objeto. c se refiere al segundo. Si alguien responde que a.stock sigue siendo 10, vuelve a explicar la asignación b = a. Esta comprobación determina si el grupo está listo para el reto.</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 minutos. Intervalo 21–23.</a:t>
            </a:r>
          </a:p>
          <a:p xmlns:a="http://schemas.openxmlformats.org/drawingml/2006/main">
            <a:r>
              <a:t/>
            </a:r>
          </a:p>
          <a:p xmlns:a="http://schemas.openxmlformats.org/drawingml/2006/main">
            <a:r>
              <a:t>GUION Y DINÁMICA</a:t>
            </a:r>
          </a:p>
          <a:p xmlns:a="http://schemas.openxmlformats.org/drawingml/2006/main">
            <a:r>
              <a:t>Presenta el reto de la sección U.3 del archivo. Aclara que usaremos tres libros y dos socios, como indica esta unidad, no la variante de cuatro libros de la guía APE. No se necesitan Scanner, arreglos ni menús. La simulación cambia disponible y librosPrestados. Pregunta qué objeto debe cambiar cuando se presta el segundo libro y qué dato del socio debe aumentar.</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 minutos. Intervalo 23–25.</a:t>
            </a:r>
          </a:p>
          <a:p xmlns:a="http://schemas.openxmlformats.org/drawingml/2006/main">
            <a:r>
              <a:t/>
            </a:r>
          </a:p>
          <a:p xmlns:a="http://schemas.openxmlformats.org/drawingml/2006/main">
            <a:r>
              <a:t>GUION Y DINÁMICA</a:t>
            </a:r>
          </a:p>
          <a:p xmlns:a="http://schemas.openxmlformats.org/drawingml/2006/main">
            <a:r>
              <a:t>Escribe los nombres Libro y Socio en la pizarra. Pregunta por qué cedula es String: representa un identificador, puede tener ceros iniciales y no se usa para operaciones aritméticas. Explica que disponible indica si se puede prestar un libro. El contador librosPrestados guarda cuántos tiene el socio en esta simulación. El modelo mínimo no registra qué títulos tiene cada socio, y esa limitación está fuera del alcance de la clase.</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4 minutos. Intervalo 25–29.</a:t>
            </a:r>
          </a:p>
          <a:p xmlns:a="http://schemas.openxmlformats.org/drawingml/2006/main">
            <a:r>
              <a:t/>
            </a:r>
          </a:p>
          <a:p xmlns:a="http://schemas.openxmlformats.org/drawingml/2006/main">
            <a:r>
              <a:t>GUION Y DINÁMICA</a:t>
            </a:r>
          </a:p>
          <a:p xmlns:a="http://schemas.openxmlformats.org/drawingml/2006/main">
            <a:r>
              <a:t>Dedica un minuto a explicar y tres a que creen los dos archivos. El bloque contiene dos clases públicas, por lo que cada una debe guardarse en su propio archivo. Revisa mayúsculas, llaves y punto y coma. Los atributos no llevan static. Si el IDE creó una declaración package, debe coincidir en todos los archivos. Pide compilar antes de continuar. Recuerda que los atributos numéricos empiezan en cero y boolean en false, pero asignaremos explícitamente el estado inicial.</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 minutos. Intervalo 29–32.</a:t>
            </a:r>
          </a:p>
          <a:p xmlns:a="http://schemas.openxmlformats.org/drawingml/2006/main">
            <a:r>
              <a:t/>
            </a:r>
          </a:p>
          <a:p xmlns:a="http://schemas.openxmlformats.org/drawingml/2006/main">
            <a:r>
              <a:t>GUION Y DINÁMICA</a:t>
            </a:r>
          </a:p>
          <a:p xmlns:a="http://schemas.openxmlformats.org/drawingml/2006/main">
            <a:r>
              <a:t>Da dos minutos para crear el archivo Main.java y ejecutar una impresión sencilla de Proyecto listo. Usa el minuto restante para orientar a quienes tienen errores. Explica que main es static y permite iniciar este programa sin crear un objeto Main. Eso no convierte en estáticos a los atributos de Libro y Socio. Cada pareja debe mantener el programa compilando conforme agrega fragmentos.</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5 minutos. Intervalo 32–37.</a:t>
            </a:r>
          </a:p>
          <a:p xmlns:a="http://schemas.openxmlformats.org/drawingml/2006/main">
            <a:r>
              <a:t/>
            </a:r>
          </a:p>
          <a:p xmlns:a="http://schemas.openxmlformats.org/drawingml/2006/main">
            <a:r>
              <a:t>GUION Y DINÁMICA</a:t>
            </a:r>
          </a:p>
          <a:p xmlns:a="http://schemas.openxmlformats.org/drawingml/2006/main">
            <a:r>
              <a:t>Usa estos valores como datos de ejemplo. anio representa el año registrado de la edición usada, por eso La Odisea puede tener 2020. No presentes todos los años como fechas de creación de las obras. Da tres minutos para escribir y dos para revisar. Pregunta cuántos objetos hay y qué pasaría si reemplazaran new Libro() de l3 por l1. Respuesta: compartirían objeto. Solicita imprimir titulo y autor de los tres libros antes de continuar.</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4 minutos. Intervalo 37–41.</a:t>
            </a:r>
          </a:p>
          <a:p xmlns:a="http://schemas.openxmlformats.org/drawingml/2006/main">
            <a:r>
              <a:t/>
            </a:r>
          </a:p>
          <a:p xmlns:a="http://schemas.openxmlformats.org/drawingml/2006/main">
            <a:r>
              <a:t>GUION Y DINÁMICA</a:t>
            </a:r>
          </a:p>
          <a:p xmlns:a="http://schemas.openxmlformats.org/drawingml/2006/main">
            <a:r>
              <a:t>Los identificadores son datos ficticios para la práctica y no se validan como cédulas reales. Pide que cambien de rol: ahora escribe la persona que antes predecía. Dos minutos para crear los socios y dos para imprimir nombre y librosPrestados de cada uno. Confirma que s1 y s2 no compartan una referencia por accidente. Hasta aquí hay cinco objetos creados: tres libros y dos socios.</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4 minutos. Intervalo 41–45.</a:t>
            </a:r>
          </a:p>
          <a:p xmlns:a="http://schemas.openxmlformats.org/drawingml/2006/main">
            <a:r>
              <a:t/>
            </a:r>
          </a:p>
          <a:p xmlns:a="http://schemas.openxmlformats.org/drawingml/2006/main">
            <a:r>
              <a:t>GUION Y DINÁMICA</a:t>
            </a:r>
          </a:p>
          <a:p xmlns:a="http://schemas.openxmlformats.org/drawingml/2006/main">
            <a:r>
              <a:t>Antes de ejecutar, da un minuto para escribir qué cambia. Respuestas: l2.disponible pasa de true a false y s1.librosPrestados de 0 a 1. Los otros tres objetos conservan sus valores. El if usa directamente un boolean. Explica que una segunda ejecución de este mismo bloque, sin reiniciar el estado, entraría en else y no incrementaría el contador. Da dos minutos de implementación y uno de revisión. La validación es un apoyo sencillo al préstamo pedido en la unidad.</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5 minutos. Intervalo 45–50.</a:t>
            </a:r>
          </a:p>
          <a:p xmlns:a="http://schemas.openxmlformats.org/drawingml/2006/main">
            <a:r>
              <a:t/>
            </a:r>
          </a:p>
          <a:p xmlns:a="http://schemas.openxmlformats.org/drawingml/2006/main">
            <a:r>
              <a:t>GUION Y DINÁMICA</a:t>
            </a:r>
          </a:p>
          <a:p xmlns:a="http://schemas.openxmlformats.org/drawingml/2006/main">
            <a:r>
              <a:t>Dedica un minuto a predecir, dos a ejecutar y dos a corregir diferencias. Salida esperada: El principito : true, Don Quijote : false, La Odisea : true, Ana : 1, Luis : 0. El formato usa boolean para que se vea el atributo directamente. Si sobra tiempo, pide usar if para mostrar Disponible o Prestado. Verifica además que hayan impreso titulo : autor en el estado inicial, siguiendo el ejercicio 3.5. No avances sin que al menos una pareja explique los dos cambios.</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 minutos. Intervalo 50–52.</a:t>
            </a:r>
          </a:p>
          <a:p xmlns:a="http://schemas.openxmlformats.org/drawingml/2006/main">
            <a:r>
              <a:t/>
            </a:r>
          </a:p>
          <a:p xmlns:a="http://schemas.openxmlformats.org/drawingml/2006/main">
            <a:r>
              <a:t>GUION Y DINÁMICA</a:t>
            </a:r>
          </a:p>
          <a:p xmlns:a="http://schemas.openxmlformats.org/drawingml/2006/main">
            <a:r>
              <a:t>Revisa el resultado con el grupo. Pide que comparen sus predicciones con la ejecución. Si todos los libros cambian a false, revisa si se compartieron referencias por error. Si Ana queda en cero, revisa la línea que incrementa el contador. Si Ana queda en dos tras un único préstamo, busca una asignación o un incremento duplicado. El conteo total es una comprobación oral, no exige añadir otro algoritmo al programa.</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4 minutos. Intervalo 52–56.</a:t>
            </a:r>
          </a:p>
          <a:p xmlns:a="http://schemas.openxmlformats.org/drawingml/2006/main">
            <a:r>
              <a:t/>
            </a:r>
          </a:p>
          <a:p xmlns:a="http://schemas.openxmlformats.org/drawingml/2006/main">
            <a:r>
              <a:t>GUION Y DINÁMICA</a:t>
            </a:r>
          </a:p>
          <a:p xmlns:a="http://schemas.openxmlformats.org/drawingml/2006/main">
            <a:r>
              <a:t>Selecciona tres parejas para intervenciones de aproximadamente un minuto cada una y reserva un minuto para la pregunta. Deben explicar sin leer línea por línea. Respuesta a Socio s3 = s1: crea otra variable que apunta al mismo socio, no un nuevo objeto. Si luego s3.librosPrestados cambia, s1 verá el nuevo valor. Evalúa si distinguen clase, objeto y referencia y si justifican por qué los demás objetos no cambian.</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 minutos. Intervalo 56–58.</a:t>
            </a:r>
          </a:p>
          <a:p xmlns:a="http://schemas.openxmlformats.org/drawingml/2006/main">
            <a:r>
              <a:t/>
            </a:r>
          </a:p>
          <a:p xmlns:a="http://schemas.openxmlformats.org/drawingml/2006/main">
            <a:r>
              <a:t>GUION Y DINÁMICA</a:t>
            </a:r>
          </a:p>
          <a:p xmlns:a="http://schemas.openxmlformats.org/drawingml/2006/main">
            <a:r>
              <a:t>Este cambio se realiza después del primer préstamo y supone que l1 sigue disponible. Da 45 segundos para predecir y pide a una pareja realizarlo. Ahora Ana y Luis tienen uno cada uno y solo l3 está disponible. Si desean conservar la validación, usen el mismo if del préstamo anterior con l1 y s2. Errores útiles para comentar: escribir Libro.titulo como si fuera estático, olvidar new, asignar "true" como texto o confundir = con ==.</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 minutos. Intervalo 58–60.</a:t>
            </a:r>
          </a:p>
          <a:p xmlns:a="http://schemas.openxmlformats.org/drawingml/2006/main">
            <a:r>
              <a:t/>
            </a:r>
          </a:p>
          <a:p xmlns:a="http://schemas.openxmlformats.org/drawingml/2006/main">
            <a:r>
              <a:t>GUION Y DINÁMICA</a:t>
            </a:r>
          </a:p>
          <a:p xmlns:a="http://schemas.openxmlformats.org/drawingml/2006/main">
            <a:r>
              <a:t>Pide respuestas cortas a cuatro estudiantes. Respuestas: la clase define la estructura y la instancia es un objeto concreto; new crea un objeto y la asignación copia una referencia; solo comparten cambios si ambas referencias apuntan al mismo objeto; un préstamo cambia disponible del libro y librosPrestados del socio. Cierra recordando que deben poder predecir, ejecutar y explicar. Fuente principal de toda la sesión: Plan de clases Introducción a la POO (1).pdf, Unidad 3, apartados 3.1 a 3.6 y reto Biblioteca del curso.</a:t>
            </a:r>
          </a:p>
          <a:p xmlns:a="http://schemas.openxmlformats.org/drawingml/2006/main">
            <a:r>
              <a:t/>
            </a:r>
          </a:p>
          <a:p xmlns:a="http://schemas.openxmlformats.org/drawingml/2006/main">
            <a:r>
              <a:t>Fuente: archivo adjunto Plan de clases Introducción a la POO (1).pdf, U.3. Ejemplos y tiempos adaptados a una sesión de 60 minutos.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277776e0594f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b1bc1e369f4e5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c8073a8a63845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dd4117fd2e4b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d0770e096f46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724337d65624e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7DA3AA-6968-4D5F-9475-84F05795030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F26545-D612-4267-9842-94C0E5D89CDD}"/>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41B4686-A65C-4A52-82BF-197446C8D4D0}"/>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671BFB-45A9-4131-8B10-D86A8891355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A7D7D0-15CB-4954-8A9E-51E9C5EC7211}"/>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50E03F7-1EE2-44E0-B839-F9E271DB943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A813FB-DEEE-4291-B854-4A00B66DBF0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32491AE-98B8-470F-BE07-831961D81B98}"/>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D4EC7B-E011-46C5-8618-40E2AA4DDF2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85E392-3E40-4838-B784-12606185AEE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266853cec246fa" /><Relationship Type="http://schemas.openxmlformats.org/officeDocument/2006/relationships/slideLayout" Target="/ppt/slideLayouts/slideLayout1.xml" Id="R376ec2dea61c457f" /><Relationship Type="http://schemas.openxmlformats.org/officeDocument/2006/relationships/slideLayout" Target="/ppt/slideLayouts/slideLayout2.xml" Id="R494b8887fb5e4f1f" /><Relationship Type="http://schemas.openxmlformats.org/officeDocument/2006/relationships/slideLayout" Target="/ppt/slideLayouts/slideLayout3.xml" Id="R441448b967b1448f" /><Relationship Type="http://schemas.openxmlformats.org/officeDocument/2006/relationships/slideLayout" Target="/ppt/slideLayouts/slideLayout4.xml" Id="Raf190c483cd746c5" /><Relationship Type="http://schemas.openxmlformats.org/officeDocument/2006/relationships/slideLayout" Target="/ppt/slideLayouts/slideLayout5.xml" Id="Raeb7f2f85dbb431c" /><Relationship Type="http://schemas.openxmlformats.org/officeDocument/2006/relationships/slideLayout" Target="/ppt/slideLayouts/slideLayout6.xml" Id="R7c195e88d69048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6ec2dea61c457f"/>
    <p:sldLayoutId xmlns:r="http://schemas.openxmlformats.org/officeDocument/2006/relationships" id="2147483650" r:id="R494b8887fb5e4f1f"/>
    <p:sldLayoutId xmlns:r="http://schemas.openxmlformats.org/officeDocument/2006/relationships" id="2147483651" r:id="R441448b967b1448f"/>
    <p:sldLayoutId xmlns:r="http://schemas.openxmlformats.org/officeDocument/2006/relationships" id="2147483652" r:id="Raf190c483cd746c5"/>
    <p:sldLayoutId xmlns:r="http://schemas.openxmlformats.org/officeDocument/2006/relationships" id="2147483653" r:id="Raeb7f2f85dbb431c"/>
    <p:sldLayoutId xmlns:r="http://schemas.openxmlformats.org/officeDocument/2006/relationships" id="2147483654" r:id="R7c195e88d69048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7d8e5656c234b2a" /><Relationship Type="http://schemas.openxmlformats.org/officeDocument/2006/relationships/notesSlide" Target="/ppt/notesSlides/notesSlide1.xml" Id="R228cbdda29644d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a9a778c31eb488b" /><Relationship Type="http://schemas.openxmlformats.org/officeDocument/2006/relationships/notesSlide" Target="/ppt/notesSlides/notesSlide2.xml" Id="Ra96261e68f724c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8faef6520ed4d4d" /><Relationship Type="http://schemas.openxmlformats.org/officeDocument/2006/relationships/notesSlide" Target="/ppt/notesSlides/notesSlide3.xml" Id="R6d5e356483d14f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63a84e5104846d0" /><Relationship Type="http://schemas.openxmlformats.org/officeDocument/2006/relationships/notesSlide" Target="/ppt/notesSlides/notesSlide4.xml" Id="Ra7bd7909013845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9165a73518f465d" /><Relationship Type="http://schemas.openxmlformats.org/officeDocument/2006/relationships/notesSlide" Target="/ppt/notesSlides/notesSlide5.xml" Id="Rbda8be9f9a1549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65e2c1961b49fd" /><Relationship Type="http://schemas.openxmlformats.org/officeDocument/2006/relationships/notesSlide" Target="/ppt/notesSlides/notesSlide6.xml" Id="R49fab57e5d5843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10fc19da274a4b" /><Relationship Type="http://schemas.openxmlformats.org/officeDocument/2006/relationships/notesSlide" Target="/ppt/notesSlides/notesSlide7.xml" Id="R0f1b0917e91b4e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052bf5da4064d2c" /><Relationship Type="http://schemas.openxmlformats.org/officeDocument/2006/relationships/notesSlide" Target="/ppt/notesSlides/notesSlide8.xml" Id="R32a630d2bc594f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f183e609e684d4a" /><Relationship Type="http://schemas.openxmlformats.org/officeDocument/2006/relationships/notesSlide" Target="/ppt/notesSlides/notesSlide9.xml" Id="Rd50bb4b4b9b24b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cf170e2182c4d52" /><Relationship Type="http://schemas.openxmlformats.org/officeDocument/2006/relationships/notesSlide" Target="/ppt/notesSlides/notesSlide10.xml" Id="R6ae4105987d646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02e4f166c5c4b8a" /><Relationship Type="http://schemas.openxmlformats.org/officeDocument/2006/relationships/notesSlide" Target="/ppt/notesSlides/notesSlide11.xml" Id="R0d1558540f0f40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dd6222778454d1c" /><Relationship Type="http://schemas.openxmlformats.org/officeDocument/2006/relationships/notesSlide" Target="/ppt/notesSlides/notesSlide12.xml" Id="R008e79a64c4a4a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f4816852f2d4509" /><Relationship Type="http://schemas.openxmlformats.org/officeDocument/2006/relationships/notesSlide" Target="/ppt/notesSlides/notesSlide13.xml" Id="R080de534bc844f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6c8c0efc8084548" /><Relationship Type="http://schemas.openxmlformats.org/officeDocument/2006/relationships/notesSlide" Target="/ppt/notesSlides/notesSlide14.xml" Id="R9730b28cb1d54a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902021973074458" /><Relationship Type="http://schemas.openxmlformats.org/officeDocument/2006/relationships/notesSlide" Target="/ppt/notesSlides/notesSlide15.xml" Id="R76b98d388f2447f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eb637a70d08460c" /><Relationship Type="http://schemas.openxmlformats.org/officeDocument/2006/relationships/notesSlide" Target="/ppt/notesSlides/notesSlide16.xml" Id="Ra08cdb6a4be04b2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83fe946b16246bc" /><Relationship Type="http://schemas.openxmlformats.org/officeDocument/2006/relationships/notesSlide" Target="/ppt/notesSlides/notesSlide17.xml" Id="R47144f4de166437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214b4b3f6604f23" /><Relationship Type="http://schemas.openxmlformats.org/officeDocument/2006/relationships/notesSlide" Target="/ppt/notesSlides/notesSlide18.xml" Id="R223f706dbb7d4c6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b647d5a13c64609" /><Relationship Type="http://schemas.openxmlformats.org/officeDocument/2006/relationships/notesSlide" Target="/ppt/notesSlides/notesSlide19.xml" Id="R7b5f893b097a41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a23851618874b5d" /><Relationship Type="http://schemas.openxmlformats.org/officeDocument/2006/relationships/notesSlide" Target="/ppt/notesSlides/notesSlide20.xml" Id="Rfca9023f982042e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41d7584e52d454e" /><Relationship Type="http://schemas.openxmlformats.org/officeDocument/2006/relationships/notesSlide" Target="/ppt/notesSlides/notesSlide21.xml" Id="Rbe55aaebf7e74e0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27a56cb27b74e24" /><Relationship Type="http://schemas.openxmlformats.org/officeDocument/2006/relationships/notesSlide" Target="/ppt/notesSlides/notesSlide22.xml" Id="R4b3b662ed1dd4e8d" /></Relationships>
</file>

<file path=ppt/slides/slide1.xml><?xml version="1.0" encoding="utf-8"?>
<p:sld xmlns:p="http://schemas.openxmlformats.org/presentationml/2006/main">
  <p:cSld>
    <p:bg>
      <p:bgPr>
        <a:solidFill xmlns:a="http://schemas.openxmlformats.org/drawingml/2006/main">
          <a:srgbClr val="10293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F63784-64C1-4624-9C2C-3622A243CC56}"/>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70E0CE"/>
                </a:solidFill>
                <a:latin typeface="DejaVu Sans"/>
                <a:ea typeface="DejaVu Sans"/>
                <a:cs typeface="DejaVu Sans"/>
              </a:defRPr>
            </a:defPPr>
          </a:lstStyle>
          <a:p xmlns:a="http://schemas.openxmlformats.org/drawingml/2006/main">
            <a:pPr>
              <a:defRPr sz="1650" b="1">
                <a:solidFill>
                  <a:srgbClr val="70E0CE"/>
                </a:solidFill>
                <a:latin typeface="DejaVu Sans"/>
                <a:ea typeface="DejaVu Sans"/>
                <a:cs typeface="DejaVu Sans"/>
              </a:defRPr>
            </a:pPr>
            <a:r>
              <a:rPr sz="1650" b="1">
                <a:solidFill>
                  <a:srgbClr val="70E0CE"/>
                </a:solidFill>
                <a:latin typeface="DejaVu Sans"/>
                <a:ea typeface="DejaVu Sans"/>
                <a:cs typeface="DejaVu Sans"/>
              </a:rPr>
              <a:t>APERTURA</a:t>
            </a:r>
          </a:p>
        </p:txBody>
      </p:sp>
      <p:sp>
        <p:nvSpPr>
          <p:cNvPr id="2" name="">
            <a:extLst xmlns:a="http://schemas.openxmlformats.org/drawingml/2006/main">
              <a:ext uri="{FF2B5EF4-FFF2-40B4-BE49-F238E27FC236}">
                <a16:creationId xmlns:a16="http://schemas.microsoft.com/office/drawing/2014/main" id="{AA52F36D-838E-40E5-A894-48FDC73EA0DB}"/>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100" b="1">
                <a:solidFill>
                  <a:srgbClr val="F7F6F1"/>
                </a:solidFill>
                <a:latin typeface="DejaVu Sans"/>
                <a:ea typeface="DejaVu Sans"/>
                <a:cs typeface="DejaVu Sans"/>
              </a:defRPr>
            </a:defPPr>
          </a:lstStyle>
          <a:p xmlns:a="http://schemas.openxmlformats.org/drawingml/2006/main">
            <a:pPr>
              <a:defRPr sz="5100" b="1">
                <a:solidFill>
                  <a:srgbClr val="F7F6F1"/>
                </a:solidFill>
                <a:latin typeface="DejaVu Sans"/>
                <a:ea typeface="DejaVu Sans"/>
                <a:cs typeface="DejaVu Sans"/>
              </a:defRPr>
            </a:pPr>
            <a:r>
              <a:rPr sz="5100" b="1">
                <a:solidFill>
                  <a:srgbClr val="F7F6F1"/>
                </a:solidFill>
                <a:latin typeface="DejaVu Sans"/>
                <a:ea typeface="DejaVu Sans"/>
                <a:cs typeface="DejaVu Sans"/>
              </a:rPr>
              <a:t>Práctica de clases y objetos</a:t>
            </a:r>
          </a:p>
        </p:txBody>
      </p:sp>
      <p:sp>
        <p:nvSpPr>
          <p:cNvPr id="3" name="">
            <a:extLst xmlns:a="http://schemas.openxmlformats.org/drawingml/2006/main">
              <a:ext uri="{FF2B5EF4-FFF2-40B4-BE49-F238E27FC236}">
                <a16:creationId xmlns:a16="http://schemas.microsoft.com/office/drawing/2014/main" id="{7F812A3B-FF7D-4276-80A3-F471A931B7B1}"/>
              </a:ext>
            </a:extLst>
          </p:cNvPr>
          <p:cNvSpPr>
            <a:spLocks xmlns:a="http://schemas.openxmlformats.org/drawingml/2006/main" noGrp="1"/>
          </p:cNvSpPr>
          <p:nvPr/>
        </p:nvSpPr>
        <p:spPr>
          <a:xfrm xmlns:a="http://schemas.openxmlformats.org/drawingml/2006/main">
            <a:off x="809625" y="2857500"/>
            <a:ext cx="123825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0">
                <a:solidFill>
                  <a:srgbClr val="F7F6F1"/>
                </a:solidFill>
                <a:latin typeface="DejaVu Sans"/>
                <a:ea typeface="DejaVu Sans"/>
                <a:cs typeface="DejaVu Sans"/>
              </a:defRPr>
            </a:defPPr>
          </a:lstStyle>
          <a:p xmlns:a="http://schemas.openxmlformats.org/drawingml/2006/main">
            <a:pPr>
              <a:defRPr sz="2700" b="0">
                <a:solidFill>
                  <a:srgbClr val="F7F6F1"/>
                </a:solidFill>
                <a:latin typeface="DejaVu Sans"/>
                <a:ea typeface="DejaVu Sans"/>
                <a:cs typeface="DejaVu Sans"/>
              </a:defRPr>
            </a:pPr>
            <a:r>
              <a:rPr sz="2700" b="0">
                <a:solidFill>
                  <a:srgbClr val="F7F6F1"/>
                </a:solidFill>
                <a:latin typeface="DejaVu Sans"/>
                <a:ea typeface="DejaVu Sans"/>
                <a:cs typeface="DejaVu Sans"/>
              </a:rPr>
              <a:t>UNIDAD 3 · JAVA</a:t>
            </a:r>
          </a:p>
          <a:p xmlns:a="http://schemas.openxmlformats.org/drawingml/2006/main">
            <a:r>
              <a:t/>
            </a:r>
          </a:p>
          <a:p xmlns:a="http://schemas.openxmlformats.org/drawingml/2006/main">
            <a:pPr>
              <a:defRPr sz="2700" b="0">
                <a:solidFill>
                  <a:srgbClr val="F7F6F1"/>
                </a:solidFill>
                <a:latin typeface="DejaVu Sans"/>
                <a:ea typeface="DejaVu Sans"/>
                <a:cs typeface="DejaVu Sans"/>
              </a:defRPr>
            </a:pPr>
            <a:r>
              <a:rPr sz="2700" b="0">
                <a:solidFill>
                  <a:srgbClr val="F7F6F1"/>
                </a:solidFill>
                <a:latin typeface="DejaVu Sans"/>
                <a:ea typeface="DejaVu Sans"/>
                <a:cs typeface="DejaVu Sans"/>
              </a:rPr>
              <a:t>Una clase de 60 minutos</a:t>
            </a:r>
          </a:p>
          <a:p xmlns:a="http://schemas.openxmlformats.org/drawingml/2006/main">
            <a:r>
              <a:t/>
            </a:r>
          </a:p>
          <a:p xmlns:a="http://schemas.openxmlformats.org/drawingml/2006/main">
            <a:pPr>
              <a:defRPr sz="2700" b="0">
                <a:solidFill>
                  <a:srgbClr val="F7F6F1"/>
                </a:solidFill>
                <a:latin typeface="DejaVu Sans"/>
                <a:ea typeface="DejaVu Sans"/>
                <a:cs typeface="DejaVu Sans"/>
              </a:defRPr>
            </a:pPr>
            <a:r>
              <a:rPr sz="2700" b="0">
                <a:solidFill>
                  <a:srgbClr val="F7F6F1"/>
                </a:solidFill>
                <a:latin typeface="DejaVu Sans"/>
                <a:ea typeface="DejaVu Sans"/>
                <a:cs typeface="DejaVu Sans"/>
              </a:rPr>
              <a:t>Varias instancias, referencias y biblioteca del curso</a:t>
            </a:r>
          </a:p>
        </p:txBody>
      </p:sp>
      <p:sp>
        <p:nvSpPr>
          <p:cNvPr id="4" name="">
            <a:extLst xmlns:a="http://schemas.openxmlformats.org/drawingml/2006/main">
              <a:ext uri="{FF2B5EF4-FFF2-40B4-BE49-F238E27FC236}">
                <a16:creationId xmlns:a16="http://schemas.microsoft.com/office/drawing/2014/main" id="{B7756476-B98E-4FD5-8037-3F308036DED2}"/>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ADBBC5"/>
                </a:solidFill>
                <a:latin typeface="DejaVu Sans"/>
                <a:ea typeface="DejaVu Sans"/>
                <a:cs typeface="DejaVu Sans"/>
              </a:defRPr>
            </a:defPPr>
          </a:lstStyle>
          <a:p xmlns:a="http://schemas.openxmlformats.org/drawingml/2006/main">
            <a:pPr>
              <a:defRPr sz="1500" b="0">
                <a:solidFill>
                  <a:srgbClr val="ADBBC5"/>
                </a:solidFill>
                <a:latin typeface="DejaVu Sans"/>
                <a:ea typeface="DejaVu Sans"/>
                <a:cs typeface="DejaVu Sans"/>
              </a:defRPr>
            </a:pPr>
            <a:r>
              <a:rPr sz="1500" b="0">
                <a:solidFill>
                  <a:srgbClr val="ADBBC5"/>
                </a:solidFill>
                <a:latin typeface="DejaVu Sans"/>
                <a:ea typeface="DejaVu Sans"/>
                <a:cs typeface="DejaVu Sans"/>
              </a:rPr>
              <a:t>01     0–1 min</a:t>
            </a:r>
          </a:p>
        </p:txBody>
      </p:sp>
    </p:spTree>
    <p:extLst>
      <p:ext uri="{BB962C8B-B14F-4D97-AF65-F5344CB8AC3E}">
        <p14:creationId xmlns:p14="http://schemas.microsoft.com/office/powerpoint/2010/main" val="1060554637"/>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E49FC9-B2EE-40F8-9197-2F0E3D527944}"/>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UNIDAD 3 · PRÁCTICA DE POO</a:t>
            </a:r>
          </a:p>
        </p:txBody>
      </p:sp>
      <p:sp>
        <p:nvSpPr>
          <p:cNvPr id="2" name="">
            <a:extLst xmlns:a="http://schemas.openxmlformats.org/drawingml/2006/main">
              <a:ext uri="{FF2B5EF4-FFF2-40B4-BE49-F238E27FC236}">
                <a16:creationId xmlns:a16="http://schemas.microsoft.com/office/drawing/2014/main" id="{8FEA2DBF-43AA-40D4-894B-411048827E92}"/>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Lo que haremos hoy</a:t>
            </a:r>
          </a:p>
        </p:txBody>
      </p:sp>
      <p:sp>
        <p:nvSpPr>
          <p:cNvPr id="3" name="">
            <a:extLst xmlns:a="http://schemas.openxmlformats.org/drawingml/2006/main">
              <a:ext uri="{FF2B5EF4-FFF2-40B4-BE49-F238E27FC236}">
                <a16:creationId xmlns:a16="http://schemas.microsoft.com/office/drawing/2014/main" id="{9A514868-2358-4D8C-8932-04F463CE833C}"/>
              </a:ext>
            </a:extLst>
          </p:cNvPr>
          <p:cNvSpPr>
            <a:spLocks xmlns:a="http://schemas.openxmlformats.org/drawingml/2006/main" noGrp="1"/>
          </p:cNvSpPr>
          <p:nvPr/>
        </p:nvSpPr>
        <p:spPr>
          <a:xfrm xmlns:a="http://schemas.openxmlformats.org/drawingml/2006/main">
            <a:off x="762000" y="2476500"/>
            <a:ext cx="13620750" cy="514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142C43"/>
                </a:solidFill>
                <a:latin typeface="DejaVu Sans"/>
                <a:ea typeface="DejaVu Sans"/>
                <a:cs typeface="DejaVu Sans"/>
              </a:defRPr>
            </a:defPPr>
          </a:lstStyle>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00–05   Repaso de los conceptos</a:t>
            </a:r>
          </a:p>
          <a:p xmlns:a="http://schemas.openxmlformats.org/drawingml/2006/main">
            <a:r>
              <a:t/>
            </a:r>
          </a:p>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05–13   Varias instancias de Producto</a:t>
            </a:r>
          </a:p>
          <a:p xmlns:a="http://schemas.openxmlformats.org/drawingml/2006/main">
            <a:r>
              <a:t/>
            </a:r>
          </a:p>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13–21   Referencias y predicción de salida</a:t>
            </a:r>
          </a:p>
          <a:p xmlns:a="http://schemas.openxmlformats.org/drawingml/2006/main">
            <a:r>
              <a:t/>
            </a:r>
          </a:p>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21–25   Presentación del reto Biblioteca</a:t>
            </a:r>
          </a:p>
          <a:p xmlns:a="http://schemas.openxmlformats.org/drawingml/2006/main">
            <a:r>
              <a:t/>
            </a:r>
          </a:p>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25–50   Desarrollo del reto en parejas</a:t>
            </a:r>
          </a:p>
          <a:p xmlns:a="http://schemas.openxmlformats.org/drawingml/2006/main">
            <a:r>
              <a:t/>
            </a:r>
          </a:p>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50–60   Presentación, preguntas y cierre</a:t>
            </a:r>
          </a:p>
        </p:txBody>
      </p:sp>
      <p:sp>
        <p:nvSpPr>
          <p:cNvPr id="4" name="">
            <a:extLst xmlns:a="http://schemas.openxmlformats.org/drawingml/2006/main">
              <a:ext uri="{FF2B5EF4-FFF2-40B4-BE49-F238E27FC236}">
                <a16:creationId xmlns:a16="http://schemas.microsoft.com/office/drawing/2014/main" id="{F46B57E0-6990-405C-AA7D-F9A2B9E4A7F2}"/>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02     1–2 min</a:t>
            </a:r>
          </a:p>
        </p:txBody>
      </p:sp>
    </p:spTree>
    <p:extLst>
      <p:ext uri="{BB962C8B-B14F-4D97-AF65-F5344CB8AC3E}">
        <p14:creationId xmlns:p14="http://schemas.microsoft.com/office/powerpoint/2010/main" val="2147334316"/>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FC0AB5-9E07-4FDE-9B80-A85605F574C6}"/>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REPASO</a:t>
            </a:r>
          </a:p>
        </p:txBody>
      </p:sp>
      <p:sp>
        <p:nvSpPr>
          <p:cNvPr id="2" name="">
            <a:extLst xmlns:a="http://schemas.openxmlformats.org/drawingml/2006/main">
              <a:ext uri="{FF2B5EF4-FFF2-40B4-BE49-F238E27FC236}">
                <a16:creationId xmlns:a16="http://schemas.microsoft.com/office/drawing/2014/main" id="{DF69B350-0AE2-423E-AE3C-5980F9151EFD}"/>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Repaso: un celular concreto</a:t>
            </a:r>
          </a:p>
        </p:txBody>
      </p:sp>
      <p:sp>
        <p:nvSpPr>
          <p:cNvPr id="3" name="">
            <a:extLst xmlns:a="http://schemas.openxmlformats.org/drawingml/2006/main">
              <a:ext uri="{FF2B5EF4-FFF2-40B4-BE49-F238E27FC236}">
                <a16:creationId xmlns:a16="http://schemas.microsoft.com/office/drawing/2014/main" id="{4C9A7128-3930-4944-BAFA-7C33B6845E9A}"/>
              </a:ext>
            </a:extLst>
          </p:cNvPr>
          <p:cNvSpPr>
            <a:spLocks xmlns:a="http://schemas.openxmlformats.org/drawingml/2006/main" noGrp="1"/>
          </p:cNvSpPr>
          <p:nvPr/>
        </p:nvSpPr>
        <p:spPr>
          <a:xfrm xmlns:a="http://schemas.openxmlformats.org/drawingml/2006/main">
            <a:off x="762000" y="2571750"/>
            <a:ext cx="99060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5C67"/>
                </a:solidFill>
                <a:latin typeface="DejaVu Sans Mono"/>
                <a:ea typeface="DejaVu Sans Mono"/>
                <a:cs typeface="DejaVu Sans Mono"/>
              </a:defRPr>
            </a:defPPr>
          </a:lstStyle>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Celular c1 = new Celular();</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c1.marca = "Samsung";</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c1.bateria = 80;</a:t>
            </a:r>
          </a:p>
        </p:txBody>
      </p:sp>
      <p:sp>
        <p:nvSpPr>
          <p:cNvPr id="4" name="">
            <a:extLst xmlns:a="http://schemas.openxmlformats.org/drawingml/2006/main">
              <a:ext uri="{FF2B5EF4-FFF2-40B4-BE49-F238E27FC236}">
                <a16:creationId xmlns:a16="http://schemas.microsoft.com/office/drawing/2014/main" id="{4F823E46-9349-4684-99CD-B574C56D1A1D}"/>
              </a:ext>
            </a:extLst>
          </p:cNvPr>
          <p:cNvSpPr>
            <a:spLocks xmlns:a="http://schemas.openxmlformats.org/drawingml/2006/main" noGrp="1"/>
          </p:cNvSpPr>
          <p:nvPr/>
        </p:nvSpPr>
        <p:spPr>
          <a:xfrm xmlns:a="http://schemas.openxmlformats.org/drawingml/2006/main">
            <a:off x="11049000" y="2571750"/>
            <a:ext cx="3333750" cy="457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43"/>
                </a:solidFill>
                <a:latin typeface="DejaVu Sans"/>
                <a:ea typeface="DejaVu Sans"/>
                <a:cs typeface="DejaVu Sans"/>
              </a:defRPr>
            </a:defPPr>
          </a:lstStyle>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Clase: Celular, el modelo que define sus datos.</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Atributos: marca, modelo, bateria y encendido.</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Objeto o instancia: un celular creado con esa clase.</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Referencia: la variable que permite acceder al objeto.</a:t>
            </a:r>
          </a:p>
        </p:txBody>
      </p:sp>
      <p:sp>
        <p:nvSpPr>
          <p:cNvPr id="5" name="">
            <a:extLst xmlns:a="http://schemas.openxmlformats.org/drawingml/2006/main">
              <a:ext uri="{FF2B5EF4-FFF2-40B4-BE49-F238E27FC236}">
                <a16:creationId xmlns:a16="http://schemas.microsoft.com/office/drawing/2014/main" id="{DEAF4A09-949B-4223-987D-780560760A46}"/>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03     2–5 min</a:t>
            </a:r>
          </a:p>
        </p:txBody>
      </p:sp>
    </p:spTree>
    <p:extLst>
      <p:ext uri="{BB962C8B-B14F-4D97-AF65-F5344CB8AC3E}">
        <p14:creationId xmlns:p14="http://schemas.microsoft.com/office/powerpoint/2010/main" val="2038209394"/>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31CC38-021A-4D74-80E2-DB55F6FAA4C6}"/>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VARIAS INSTANCIAS</a:t>
            </a:r>
          </a:p>
        </p:txBody>
      </p:sp>
      <p:sp>
        <p:nvSpPr>
          <p:cNvPr id="2" name="">
            <a:extLst xmlns:a="http://schemas.openxmlformats.org/drawingml/2006/main">
              <a:ext uri="{FF2B5EF4-FFF2-40B4-BE49-F238E27FC236}">
                <a16:creationId xmlns:a16="http://schemas.microsoft.com/office/drawing/2014/main" id="{D8C05D9C-8888-49EF-91C9-9E799C228BF3}"/>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Una clase, varios productos</a:t>
            </a:r>
          </a:p>
        </p:txBody>
      </p:sp>
      <p:sp>
        <p:nvSpPr>
          <p:cNvPr id="3" name="">
            <a:extLst xmlns:a="http://schemas.openxmlformats.org/drawingml/2006/main">
              <a:ext uri="{FF2B5EF4-FFF2-40B4-BE49-F238E27FC236}">
                <a16:creationId xmlns:a16="http://schemas.microsoft.com/office/drawing/2014/main" id="{BDCEBF61-C1DF-4F7D-859B-8B960A73CD7C}"/>
              </a:ext>
            </a:extLst>
          </p:cNvPr>
          <p:cNvSpPr>
            <a:spLocks xmlns:a="http://schemas.openxmlformats.org/drawingml/2006/main" noGrp="1"/>
          </p:cNvSpPr>
          <p:nvPr/>
        </p:nvSpPr>
        <p:spPr>
          <a:xfrm xmlns:a="http://schemas.openxmlformats.org/drawingml/2006/main">
            <a:off x="762000" y="2571750"/>
            <a:ext cx="99060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5C67"/>
                </a:solidFill>
                <a:latin typeface="DejaVu Sans Mono"/>
                <a:ea typeface="DejaVu Sans Mono"/>
                <a:cs typeface="DejaVu Sans Mono"/>
              </a:defRPr>
            </a:defPPr>
          </a:lstStyle>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public class Producto {</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    String nombre;</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    double precio;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    int stock;</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a:t>
            </a:r>
          </a:p>
        </p:txBody>
      </p:sp>
      <p:sp>
        <p:nvSpPr>
          <p:cNvPr id="4" name="">
            <a:extLst xmlns:a="http://schemas.openxmlformats.org/drawingml/2006/main">
              <a:ext uri="{FF2B5EF4-FFF2-40B4-BE49-F238E27FC236}">
                <a16:creationId xmlns:a16="http://schemas.microsoft.com/office/drawing/2014/main" id="{D28A51AA-9106-49CB-A89C-B21D519A6984}"/>
              </a:ext>
            </a:extLst>
          </p:cNvPr>
          <p:cNvSpPr>
            <a:spLocks xmlns:a="http://schemas.openxmlformats.org/drawingml/2006/main" noGrp="1"/>
          </p:cNvSpPr>
          <p:nvPr/>
        </p:nvSpPr>
        <p:spPr>
          <a:xfrm xmlns:a="http://schemas.openxmlformats.org/drawingml/2006/main">
            <a:off x="11049000" y="2571750"/>
            <a:ext cx="3333750" cy="457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43"/>
                </a:solidFill>
                <a:latin typeface="DejaVu Sans"/>
                <a:ea typeface="DejaVu Sans"/>
                <a:cs typeface="DejaVu Sans"/>
              </a:defRPr>
            </a:defPPr>
          </a:lstStyle>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La clase define qué datos tendrá cada producto.</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Cada objeto guarda sus propios valores.</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Los archivos del ejemplo estarán en el mismo paquete.</a:t>
            </a:r>
          </a:p>
        </p:txBody>
      </p:sp>
      <p:sp>
        <p:nvSpPr>
          <p:cNvPr id="5" name="">
            <a:extLst xmlns:a="http://schemas.openxmlformats.org/drawingml/2006/main">
              <a:ext uri="{FF2B5EF4-FFF2-40B4-BE49-F238E27FC236}">
                <a16:creationId xmlns:a16="http://schemas.microsoft.com/office/drawing/2014/main" id="{9060D42C-A9AE-409F-B688-3DE591FF95E6}"/>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04     5–7 min</a:t>
            </a:r>
          </a:p>
        </p:txBody>
      </p:sp>
    </p:spTree>
    <p:extLst>
      <p:ext uri="{BB962C8B-B14F-4D97-AF65-F5344CB8AC3E}">
        <p14:creationId xmlns:p14="http://schemas.microsoft.com/office/powerpoint/2010/main" val="275409197"/>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BA80ED-5FCC-4B04-8C57-F82BD9452B41}"/>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UNIDAD 3 · PRÁCTICA DE POO</a:t>
            </a:r>
          </a:p>
        </p:txBody>
      </p:sp>
      <p:sp>
        <p:nvSpPr>
          <p:cNvPr id="2" name="">
            <a:extLst xmlns:a="http://schemas.openxmlformats.org/drawingml/2006/main">
              <a:ext uri="{FF2B5EF4-FFF2-40B4-BE49-F238E27FC236}">
                <a16:creationId xmlns:a16="http://schemas.microsoft.com/office/drawing/2014/main" id="{B22D4A40-6967-41C1-B367-B81FEA8477EF}"/>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Tres llamadas a new, tres objetos</a:t>
            </a:r>
          </a:p>
        </p:txBody>
      </p:sp>
      <p:sp>
        <p:nvSpPr>
          <p:cNvPr id="3" name="">
            <a:extLst xmlns:a="http://schemas.openxmlformats.org/drawingml/2006/main">
              <a:ext uri="{FF2B5EF4-FFF2-40B4-BE49-F238E27FC236}">
                <a16:creationId xmlns:a16="http://schemas.microsoft.com/office/drawing/2014/main" id="{D8DCFBEB-E716-441C-A404-B5A2FFF9F061}"/>
              </a:ext>
            </a:extLst>
          </p:cNvPr>
          <p:cNvSpPr>
            <a:spLocks xmlns:a="http://schemas.openxmlformats.org/drawingml/2006/main" noGrp="1"/>
          </p:cNvSpPr>
          <p:nvPr/>
        </p:nvSpPr>
        <p:spPr>
          <a:xfrm xmlns:a="http://schemas.openxmlformats.org/drawingml/2006/main">
            <a:off x="762000" y="2571750"/>
            <a:ext cx="99060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5C67"/>
                </a:solidFill>
                <a:latin typeface="DejaVu Sans Mono"/>
                <a:ea typeface="DejaVu Sans Mono"/>
                <a:cs typeface="DejaVu Sans Mono"/>
              </a:defRPr>
            </a:defPPr>
          </a:lstStyle>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Producto p1 = new Producto();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p1.nombre = "Lápiz"; p1.precio = 0.50; p1.stock = 20;</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Producto p2 = new Producto();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p2.nombre = "Cuaderno"; p2.precio = 2.00; p2.stock = 10;</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Producto p3 = new Producto();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p3.nombre = "Regla"; p3.precio = 1.00; p3.stock = 8;</a:t>
            </a:r>
          </a:p>
        </p:txBody>
      </p:sp>
      <p:sp>
        <p:nvSpPr>
          <p:cNvPr id="4" name="">
            <a:extLst xmlns:a="http://schemas.openxmlformats.org/drawingml/2006/main">
              <a:ext uri="{FF2B5EF4-FFF2-40B4-BE49-F238E27FC236}">
                <a16:creationId xmlns:a16="http://schemas.microsoft.com/office/drawing/2014/main" id="{FD295F4F-2452-4156-BBC0-BC09DFFE20CE}"/>
              </a:ext>
            </a:extLst>
          </p:cNvPr>
          <p:cNvSpPr>
            <a:spLocks xmlns:a="http://schemas.openxmlformats.org/drawingml/2006/main" noGrp="1"/>
          </p:cNvSpPr>
          <p:nvPr/>
        </p:nvSpPr>
        <p:spPr>
          <a:xfrm xmlns:a="http://schemas.openxmlformats.org/drawingml/2006/main">
            <a:off x="11049000" y="2571750"/>
            <a:ext cx="3333750" cy="457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43"/>
                </a:solidFill>
                <a:latin typeface="DejaVu Sans"/>
                <a:ea typeface="DejaVu Sans"/>
                <a:cs typeface="DejaVu Sans"/>
              </a:defRPr>
            </a:defPPr>
          </a:lstStyle>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Fragmento dentro de main.</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Los nombres p1, p2 y p3 identifican referencias distintas.</a:t>
            </a:r>
          </a:p>
        </p:txBody>
      </p:sp>
      <p:sp>
        <p:nvSpPr>
          <p:cNvPr id="5" name="">
            <a:extLst xmlns:a="http://schemas.openxmlformats.org/drawingml/2006/main">
              <a:ext uri="{FF2B5EF4-FFF2-40B4-BE49-F238E27FC236}">
                <a16:creationId xmlns:a16="http://schemas.microsoft.com/office/drawing/2014/main" id="{FC5C4481-5468-4C1B-BD28-481D72CD9AF5}"/>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05     7–10 min</a:t>
            </a:r>
          </a:p>
        </p:txBody>
      </p:sp>
    </p:spTree>
    <p:extLst>
      <p:ext uri="{BB962C8B-B14F-4D97-AF65-F5344CB8AC3E}">
        <p14:creationId xmlns:p14="http://schemas.microsoft.com/office/powerpoint/2010/main" val="1768493568"/>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37B1E8-19E6-4378-AF43-0E43CBF187EC}"/>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UNIDAD 3 · PRÁCTICA DE POO</a:t>
            </a:r>
          </a:p>
        </p:txBody>
      </p:sp>
      <p:sp>
        <p:nvSpPr>
          <p:cNvPr id="2" name="">
            <a:extLst xmlns:a="http://schemas.openxmlformats.org/drawingml/2006/main">
              <a:ext uri="{FF2B5EF4-FFF2-40B4-BE49-F238E27FC236}">
                <a16:creationId xmlns:a16="http://schemas.microsoft.com/office/drawing/2014/main" id="{683E132B-8FD5-4F71-A358-8617600BCCB2}"/>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Modificar una instancia</a:t>
            </a:r>
          </a:p>
        </p:txBody>
      </p:sp>
      <p:sp>
        <p:nvSpPr>
          <p:cNvPr id="3" name="">
            <a:extLst xmlns:a="http://schemas.openxmlformats.org/drawingml/2006/main">
              <a:ext uri="{FF2B5EF4-FFF2-40B4-BE49-F238E27FC236}">
                <a16:creationId xmlns:a16="http://schemas.microsoft.com/office/drawing/2014/main" id="{BBAF28E0-655F-41DC-8757-A7E328DF035A}"/>
              </a:ext>
            </a:extLst>
          </p:cNvPr>
          <p:cNvSpPr>
            <a:spLocks xmlns:a="http://schemas.openxmlformats.org/drawingml/2006/main" noGrp="1"/>
          </p:cNvSpPr>
          <p:nvPr/>
        </p:nvSpPr>
        <p:spPr>
          <a:xfrm xmlns:a="http://schemas.openxmlformats.org/drawingml/2006/main">
            <a:off x="762000" y="2571750"/>
            <a:ext cx="99060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5C67"/>
                </a:solidFill>
                <a:latin typeface="DejaVu Sans Mono"/>
                <a:ea typeface="DejaVu Sans Mono"/>
                <a:cs typeface="DejaVu Sans Mono"/>
              </a:defRPr>
            </a:defPPr>
          </a:lstStyle>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p2.stock = p2.stock - 2;</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p3.precio = p3.precio + 0.50;</a:t>
            </a:r>
          </a:p>
          <a:p xmlns:a="http://schemas.openxmlformats.org/drawingml/2006/main">
            <a:r>
              <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System.out.println(p1.nombre + " : " + p1.precio);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System.out.println(p2.nombre + " : " + p2.precio);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System.out.println(p3.nombre + " : " + p3.precio);</a:t>
            </a:r>
          </a:p>
        </p:txBody>
      </p:sp>
      <p:sp>
        <p:nvSpPr>
          <p:cNvPr id="4" name="">
            <a:extLst xmlns:a="http://schemas.openxmlformats.org/drawingml/2006/main">
              <a:ext uri="{FF2B5EF4-FFF2-40B4-BE49-F238E27FC236}">
                <a16:creationId xmlns:a16="http://schemas.microsoft.com/office/drawing/2014/main" id="{4BE04678-3D48-48A4-B225-B7E87DCE36EA}"/>
              </a:ext>
            </a:extLst>
          </p:cNvPr>
          <p:cNvSpPr>
            <a:spLocks xmlns:a="http://schemas.openxmlformats.org/drawingml/2006/main" noGrp="1"/>
          </p:cNvSpPr>
          <p:nvPr/>
        </p:nvSpPr>
        <p:spPr>
          <a:xfrm xmlns:a="http://schemas.openxmlformats.org/drawingml/2006/main">
            <a:off x="11049000" y="2571750"/>
            <a:ext cx="3333750" cy="457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43"/>
                </a:solidFill>
                <a:latin typeface="DejaVu Sans"/>
                <a:ea typeface="DejaVu Sans"/>
                <a:cs typeface="DejaVu Sans"/>
              </a:defRPr>
            </a:defPPr>
          </a:lstStyle>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Antes de ejecutar: ¿qué valores cambian?</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El primer producto conserva precio 0.50 y stock 20.</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El segundo queda con stock 8. El tercero cuesta 1.50.</a:t>
            </a:r>
          </a:p>
        </p:txBody>
      </p:sp>
      <p:sp>
        <p:nvSpPr>
          <p:cNvPr id="5" name="">
            <a:extLst xmlns:a="http://schemas.openxmlformats.org/drawingml/2006/main">
              <a:ext uri="{FF2B5EF4-FFF2-40B4-BE49-F238E27FC236}">
                <a16:creationId xmlns:a16="http://schemas.microsoft.com/office/drawing/2014/main" id="{C7AD533D-A1D4-4E6D-9F80-B04B24A13BEE}"/>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06     10–13 min</a:t>
            </a:r>
          </a:p>
        </p:txBody>
      </p:sp>
    </p:spTree>
    <p:extLst>
      <p:ext uri="{BB962C8B-B14F-4D97-AF65-F5344CB8AC3E}">
        <p14:creationId xmlns:p14="http://schemas.microsoft.com/office/powerpoint/2010/main" val="1711830333"/>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63CC72-FD2D-46F0-A781-0ACBAD0B4F27}"/>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REFERENCIAS</a:t>
            </a:r>
          </a:p>
        </p:txBody>
      </p:sp>
      <p:sp>
        <p:nvSpPr>
          <p:cNvPr id="2" name="">
            <a:extLst xmlns:a="http://schemas.openxmlformats.org/drawingml/2006/main">
              <a:ext uri="{FF2B5EF4-FFF2-40B4-BE49-F238E27FC236}">
                <a16:creationId xmlns:a16="http://schemas.microsoft.com/office/drawing/2014/main" id="{D6CC9F4D-4D36-4772-ACB7-5C24F6F5742C}"/>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Una referencia puede compartirse</a:t>
            </a:r>
          </a:p>
        </p:txBody>
      </p:sp>
      <p:sp>
        <p:nvSpPr>
          <p:cNvPr id="3" name="">
            <a:extLst xmlns:a="http://schemas.openxmlformats.org/drawingml/2006/main">
              <a:ext uri="{FF2B5EF4-FFF2-40B4-BE49-F238E27FC236}">
                <a16:creationId xmlns:a16="http://schemas.microsoft.com/office/drawing/2014/main" id="{778BC999-DAA8-4A05-A86D-AD54EBD89AB4}"/>
              </a:ext>
            </a:extLst>
          </p:cNvPr>
          <p:cNvSpPr>
            <a:spLocks xmlns:a="http://schemas.openxmlformats.org/drawingml/2006/main" noGrp="1"/>
          </p:cNvSpPr>
          <p:nvPr/>
        </p:nvSpPr>
        <p:spPr>
          <a:xfrm xmlns:a="http://schemas.openxmlformats.org/drawingml/2006/main">
            <a:off x="762000" y="2571750"/>
            <a:ext cx="99060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5C67"/>
                </a:solidFill>
                <a:latin typeface="DejaVu Sans Mono"/>
                <a:ea typeface="DejaVu Sans Mono"/>
                <a:cs typeface="DejaVu Sans Mono"/>
              </a:defRPr>
            </a:defPPr>
          </a:lstStyle>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Producto p1 = new Producto();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p1.nombre = "Lápiz";</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Producto p2 = p1;</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p2.nombre = "Borrador";</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System.out.println(p1.nombre);</a:t>
            </a:r>
          </a:p>
        </p:txBody>
      </p:sp>
      <p:sp>
        <p:nvSpPr>
          <p:cNvPr id="4" name="">
            <a:extLst xmlns:a="http://schemas.openxmlformats.org/drawingml/2006/main">
              <a:ext uri="{FF2B5EF4-FFF2-40B4-BE49-F238E27FC236}">
                <a16:creationId xmlns:a16="http://schemas.microsoft.com/office/drawing/2014/main" id="{1DADA004-E8DF-4B83-90A8-0049EB2FBD8B}"/>
              </a:ext>
            </a:extLst>
          </p:cNvPr>
          <p:cNvSpPr>
            <a:spLocks xmlns:a="http://schemas.openxmlformats.org/drawingml/2006/main" noGrp="1"/>
          </p:cNvSpPr>
          <p:nvPr/>
        </p:nvSpPr>
        <p:spPr>
          <a:xfrm xmlns:a="http://schemas.openxmlformats.org/drawingml/2006/main">
            <a:off x="11049000" y="2571750"/>
            <a:ext cx="3333750" cy="457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43"/>
                </a:solidFill>
                <a:latin typeface="DejaVu Sans"/>
                <a:ea typeface="DejaVu Sans"/>
                <a:cs typeface="DejaVu Sans"/>
              </a:defRPr>
            </a:defPPr>
          </a:lstStyle>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La asignación p2 = p1 copia la referencia.</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Ambas variables permiten acceder al mismo objeto.</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En este ejemplo solo aparece un new.</a:t>
            </a:r>
          </a:p>
        </p:txBody>
      </p:sp>
      <p:sp>
        <p:nvSpPr>
          <p:cNvPr id="5" name="">
            <a:extLst xmlns:a="http://schemas.openxmlformats.org/drawingml/2006/main">
              <a:ext uri="{FF2B5EF4-FFF2-40B4-BE49-F238E27FC236}">
                <a16:creationId xmlns:a16="http://schemas.microsoft.com/office/drawing/2014/main" id="{1241274A-8D53-4F8A-A1B4-0CF3A50A8A5E}"/>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07     13–15 min</a:t>
            </a:r>
          </a:p>
        </p:txBody>
      </p:sp>
    </p:spTree>
    <p:extLst>
      <p:ext uri="{BB962C8B-B14F-4D97-AF65-F5344CB8AC3E}">
        <p14:creationId xmlns:p14="http://schemas.microsoft.com/office/powerpoint/2010/main" val="1088572830"/>
      </p:ext>
    </p:extLst>
  </p:cSld>
</p:sld>
</file>

<file path=ppt/slides/slide8.xml><?xml version="1.0" encoding="utf-8"?>
<p:sld xmlns:p="http://schemas.openxmlformats.org/presentationml/2006/main">
  <p:cSld>
    <p:bg>
      <p:bgPr>
        <a:solidFill xmlns:a="http://schemas.openxmlformats.org/drawingml/2006/main">
          <a:srgbClr val="10293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0F13F9-D30F-46DF-83E6-D007665336CD}"/>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70E0CE"/>
                </a:solidFill>
                <a:latin typeface="DejaVu Sans"/>
                <a:ea typeface="DejaVu Sans"/>
                <a:cs typeface="DejaVu Sans"/>
              </a:defRPr>
            </a:defPPr>
          </a:lstStyle>
          <a:p xmlns:a="http://schemas.openxmlformats.org/drawingml/2006/main">
            <a:pPr>
              <a:defRPr sz="1650" b="1">
                <a:solidFill>
                  <a:srgbClr val="70E0CE"/>
                </a:solidFill>
                <a:latin typeface="DejaVu Sans"/>
                <a:ea typeface="DejaVu Sans"/>
                <a:cs typeface="DejaVu Sans"/>
              </a:defRPr>
            </a:pPr>
            <a:r>
              <a:rPr sz="1650" b="1">
                <a:solidFill>
                  <a:srgbClr val="70E0CE"/>
                </a:solidFill>
                <a:latin typeface="DejaVu Sans"/>
                <a:ea typeface="DejaVu Sans"/>
                <a:cs typeface="DejaVu Sans"/>
              </a:rPr>
              <a:t>UNIDAD 3 · PRÁCTICA DE POO</a:t>
            </a:r>
          </a:p>
        </p:txBody>
      </p:sp>
      <p:sp>
        <p:nvSpPr>
          <p:cNvPr id="2" name="">
            <a:extLst xmlns:a="http://schemas.openxmlformats.org/drawingml/2006/main">
              <a:ext uri="{FF2B5EF4-FFF2-40B4-BE49-F238E27FC236}">
                <a16:creationId xmlns:a16="http://schemas.microsoft.com/office/drawing/2014/main" id="{07E224ED-72E9-450D-8809-0B5C7CE328C9}"/>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F7F6F1"/>
                </a:solidFill>
                <a:latin typeface="DejaVu Sans"/>
                <a:ea typeface="DejaVu Sans"/>
                <a:cs typeface="DejaVu Sans"/>
              </a:defRPr>
            </a:defPPr>
          </a:lstStyle>
          <a:p xmlns:a="http://schemas.openxmlformats.org/drawingml/2006/main">
            <a:pPr>
              <a:defRPr sz="3750" b="1">
                <a:solidFill>
                  <a:srgbClr val="F7F6F1"/>
                </a:solidFill>
                <a:latin typeface="DejaVu Sans"/>
                <a:ea typeface="DejaVu Sans"/>
                <a:cs typeface="DejaVu Sans"/>
              </a:defRPr>
            </a:pPr>
            <a:r>
              <a:rPr sz="3750" b="1">
                <a:solidFill>
                  <a:srgbClr val="F7F6F1"/>
                </a:solidFill>
                <a:latin typeface="DejaVu Sans"/>
                <a:ea typeface="DejaVu Sans"/>
                <a:cs typeface="DejaVu Sans"/>
              </a:rPr>
              <a:t>La salida es Borrador</a:t>
            </a:r>
          </a:p>
        </p:txBody>
      </p:sp>
      <p:sp>
        <p:nvSpPr>
          <p:cNvPr id="3" name="">
            <a:extLst xmlns:a="http://schemas.openxmlformats.org/drawingml/2006/main">
              <a:ext uri="{FF2B5EF4-FFF2-40B4-BE49-F238E27FC236}">
                <a16:creationId xmlns:a16="http://schemas.microsoft.com/office/drawing/2014/main" id="{9E459767-09B3-4B05-86E8-FDCFBFCDA1E8}"/>
              </a:ext>
            </a:extLst>
          </p:cNvPr>
          <p:cNvSpPr>
            <a:spLocks xmlns:a="http://schemas.openxmlformats.org/drawingml/2006/main" noGrp="1"/>
          </p:cNvSpPr>
          <p:nvPr/>
        </p:nvSpPr>
        <p:spPr>
          <a:xfrm xmlns:a="http://schemas.openxmlformats.org/drawingml/2006/main">
            <a:off x="762000" y="2571750"/>
            <a:ext cx="99060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70E0CE"/>
                </a:solidFill>
                <a:latin typeface="DejaVu Sans Mono"/>
                <a:ea typeface="DejaVu Sans Mono"/>
                <a:cs typeface="DejaVu Sans Mono"/>
              </a:defRPr>
            </a:defPPr>
          </a:lstStyle>
          <a:p xmlns:a="http://schemas.openxmlformats.org/drawingml/2006/main">
            <a:pPr>
              <a:defRPr sz="2250" b="0">
                <a:solidFill>
                  <a:srgbClr val="70E0CE"/>
                </a:solidFill>
                <a:latin typeface="DejaVu Sans Mono"/>
                <a:ea typeface="DejaVu Sans Mono"/>
                <a:cs typeface="DejaVu Sans Mono"/>
              </a:defRPr>
            </a:pPr>
            <a:r>
              <a:rPr sz="2250" b="0">
                <a:solidFill>
                  <a:srgbClr val="70E0CE"/>
                </a:solidFill>
                <a:latin typeface="DejaVu Sans Mono"/>
                <a:ea typeface="DejaVu Sans Mono"/>
                <a:cs typeface="DejaVu Sans Mono"/>
              </a:rPr>
              <a:t>Después de crear:        nombre = "Lápiz"</a:t>
            </a:r>
          </a:p>
          <a:p xmlns:a="http://schemas.openxmlformats.org/drawingml/2006/main">
            <a:pPr>
              <a:defRPr sz="2250" b="0">
                <a:solidFill>
                  <a:srgbClr val="70E0CE"/>
                </a:solidFill>
                <a:latin typeface="DejaVu Sans Mono"/>
                <a:ea typeface="DejaVu Sans Mono"/>
                <a:cs typeface="DejaVu Sans Mono"/>
              </a:defRPr>
            </a:pPr>
            <a:r>
              <a:rPr sz="2250" b="0">
                <a:solidFill>
                  <a:srgbClr val="70E0CE"/>
                </a:solidFill>
                <a:latin typeface="DejaVu Sans Mono"/>
                <a:ea typeface="DejaVu Sans Mono"/>
                <a:cs typeface="DejaVu Sans Mono"/>
              </a:rPr>
              <a:t>Después de p2 = p1:      nombre = "Lápiz"</a:t>
            </a:r>
          </a:p>
          <a:p xmlns:a="http://schemas.openxmlformats.org/drawingml/2006/main">
            <a:pPr>
              <a:defRPr sz="2250" b="0">
                <a:solidFill>
                  <a:srgbClr val="70E0CE"/>
                </a:solidFill>
                <a:latin typeface="DejaVu Sans Mono"/>
                <a:ea typeface="DejaVu Sans Mono"/>
                <a:cs typeface="DejaVu Sans Mono"/>
              </a:defRPr>
            </a:pPr>
            <a:r>
              <a:rPr sz="2250" b="0">
                <a:solidFill>
                  <a:srgbClr val="70E0CE"/>
                </a:solidFill>
                <a:latin typeface="DejaVu Sans Mono"/>
                <a:ea typeface="DejaVu Sans Mono"/>
                <a:cs typeface="DejaVu Sans Mono"/>
              </a:rPr>
              <a:t>Después de modificar:   nombre = "Borrador"</a:t>
            </a:r>
          </a:p>
          <a:p xmlns:a="http://schemas.openxmlformats.org/drawingml/2006/main">
            <a:r>
              <a:t/>
            </a:r>
          </a:p>
          <a:p xmlns:a="http://schemas.openxmlformats.org/drawingml/2006/main">
            <a:pPr>
              <a:defRPr sz="2250" b="0">
                <a:solidFill>
                  <a:srgbClr val="70E0CE"/>
                </a:solidFill>
                <a:latin typeface="DejaVu Sans Mono"/>
                <a:ea typeface="DejaVu Sans Mono"/>
                <a:cs typeface="DejaVu Sans Mono"/>
              </a:defRPr>
            </a:pPr>
            <a:r>
              <a:rPr sz="2250" b="0">
                <a:solidFill>
                  <a:srgbClr val="70E0CE"/>
                </a:solidFill>
                <a:latin typeface="DejaVu Sans Mono"/>
                <a:ea typeface="DejaVu Sans Mono"/>
                <a:cs typeface="DejaVu Sans Mono"/>
              </a:rPr>
              <a:t>Salida: Borrador</a:t>
            </a:r>
          </a:p>
        </p:txBody>
      </p:sp>
      <p:sp>
        <p:nvSpPr>
          <p:cNvPr id="4" name="">
            <a:extLst xmlns:a="http://schemas.openxmlformats.org/drawingml/2006/main">
              <a:ext uri="{FF2B5EF4-FFF2-40B4-BE49-F238E27FC236}">
                <a16:creationId xmlns:a16="http://schemas.microsoft.com/office/drawing/2014/main" id="{6D83CB7C-0831-4E99-A19D-DFF2A8893E22}"/>
              </a:ext>
            </a:extLst>
          </p:cNvPr>
          <p:cNvSpPr>
            <a:spLocks xmlns:a="http://schemas.openxmlformats.org/drawingml/2006/main" noGrp="1"/>
          </p:cNvSpPr>
          <p:nvPr/>
        </p:nvSpPr>
        <p:spPr>
          <a:xfrm xmlns:a="http://schemas.openxmlformats.org/drawingml/2006/main">
            <a:off x="11049000" y="2571750"/>
            <a:ext cx="3333750" cy="457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F7F6F1"/>
                </a:solidFill>
                <a:latin typeface="DejaVu Sans"/>
                <a:ea typeface="DejaVu Sans"/>
                <a:cs typeface="DejaVu Sans"/>
              </a:defRPr>
            </a:defPPr>
          </a:lstStyle>
          <a:p xmlns:a="http://schemas.openxmlformats.org/drawingml/2006/main">
            <a:pPr>
              <a:defRPr sz="2250" b="0">
                <a:solidFill>
                  <a:srgbClr val="F7F6F1"/>
                </a:solidFill>
                <a:latin typeface="DejaVu Sans"/>
                <a:ea typeface="DejaVu Sans"/>
                <a:cs typeface="DejaVu Sans"/>
              </a:defRPr>
            </a:pPr>
            <a:r>
              <a:rPr sz="2250" b="0">
                <a:solidFill>
                  <a:srgbClr val="F7F6F1"/>
                </a:solidFill>
                <a:latin typeface="DejaVu Sans"/>
                <a:ea typeface="DejaVu Sans"/>
                <a:cs typeface="DejaVu Sans"/>
              </a:rPr>
              <a:t>p1 y p2 señalan al mismo Producto.</a:t>
            </a:r>
          </a:p>
          <a:p xmlns:a="http://schemas.openxmlformats.org/drawingml/2006/main">
            <a:r>
              <a:t/>
            </a:r>
          </a:p>
          <a:p xmlns:a="http://schemas.openxmlformats.org/drawingml/2006/main">
            <a:pPr>
              <a:defRPr sz="2250" b="0">
                <a:solidFill>
                  <a:srgbClr val="F7F6F1"/>
                </a:solidFill>
                <a:latin typeface="DejaVu Sans"/>
                <a:ea typeface="DejaVu Sans"/>
                <a:cs typeface="DejaVu Sans"/>
              </a:defRPr>
            </a:pPr>
            <a:r>
              <a:rPr sz="2250" b="0">
                <a:solidFill>
                  <a:srgbClr val="F7F6F1"/>
                </a:solidFill>
                <a:latin typeface="DejaVu Sans"/>
                <a:ea typeface="DejaVu Sans"/>
                <a:cs typeface="DejaVu Sans"/>
              </a:rPr>
              <a:t>p2.nombre cambia el nombre de ese único objeto.</a:t>
            </a:r>
          </a:p>
          <a:p xmlns:a="http://schemas.openxmlformats.org/drawingml/2006/main">
            <a:r>
              <a:t/>
            </a:r>
          </a:p>
          <a:p xmlns:a="http://schemas.openxmlformats.org/drawingml/2006/main">
            <a:pPr>
              <a:defRPr sz="2250" b="0">
                <a:solidFill>
                  <a:srgbClr val="F7F6F1"/>
                </a:solidFill>
                <a:latin typeface="DejaVu Sans"/>
                <a:ea typeface="DejaVu Sans"/>
                <a:cs typeface="DejaVu Sans"/>
              </a:defRPr>
            </a:pPr>
            <a:r>
              <a:rPr sz="2250" b="0">
                <a:solidFill>
                  <a:srgbClr val="F7F6F1"/>
                </a:solidFill>
                <a:latin typeface="DejaVu Sans"/>
                <a:ea typeface="DejaVu Sans"/>
                <a:cs typeface="DejaVu Sans"/>
              </a:rPr>
              <a:t>Al consultar p1.nombre leemos el dato ya modificado.</a:t>
            </a:r>
          </a:p>
        </p:txBody>
      </p:sp>
      <p:sp>
        <p:nvSpPr>
          <p:cNvPr id="5" name="">
            <a:extLst xmlns:a="http://schemas.openxmlformats.org/drawingml/2006/main">
              <a:ext uri="{FF2B5EF4-FFF2-40B4-BE49-F238E27FC236}">
                <a16:creationId xmlns:a16="http://schemas.microsoft.com/office/drawing/2014/main" id="{134FFFA3-0C7D-4ABE-962F-70C094F8E2B0}"/>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ADBBC5"/>
                </a:solidFill>
                <a:latin typeface="DejaVu Sans"/>
                <a:ea typeface="DejaVu Sans"/>
                <a:cs typeface="DejaVu Sans"/>
              </a:defRPr>
            </a:defPPr>
          </a:lstStyle>
          <a:p xmlns:a="http://schemas.openxmlformats.org/drawingml/2006/main">
            <a:pPr>
              <a:defRPr sz="1500" b="0">
                <a:solidFill>
                  <a:srgbClr val="ADBBC5"/>
                </a:solidFill>
                <a:latin typeface="DejaVu Sans"/>
                <a:ea typeface="DejaVu Sans"/>
                <a:cs typeface="DejaVu Sans"/>
              </a:defRPr>
            </a:pPr>
            <a:r>
              <a:rPr sz="1500" b="0">
                <a:solidFill>
                  <a:srgbClr val="ADBBC5"/>
                </a:solidFill>
                <a:latin typeface="DejaVu Sans"/>
                <a:ea typeface="DejaVu Sans"/>
                <a:cs typeface="DejaVu Sans"/>
              </a:rPr>
              <a:t>08     15–17 min</a:t>
            </a:r>
          </a:p>
        </p:txBody>
      </p:sp>
    </p:spTree>
    <p:extLst>
      <p:ext uri="{BB962C8B-B14F-4D97-AF65-F5344CB8AC3E}">
        <p14:creationId xmlns:p14="http://schemas.microsoft.com/office/powerpoint/2010/main" val="1520479479"/>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B6E12C-B8D1-45FB-90A6-BA6A81FC63BB}"/>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UNIDAD 3 · PRÁCTICA DE POO</a:t>
            </a:r>
          </a:p>
        </p:txBody>
      </p:sp>
      <p:sp>
        <p:nvSpPr>
          <p:cNvPr id="2" name="">
            <a:extLst xmlns:a="http://schemas.openxmlformats.org/drawingml/2006/main">
              <a:ext uri="{FF2B5EF4-FFF2-40B4-BE49-F238E27FC236}">
                <a16:creationId xmlns:a16="http://schemas.microsoft.com/office/drawing/2014/main" id="{8CEE8282-1E7D-42A9-93EB-B02BC76FFCC1}"/>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Un objeto nuevo cambia el resultado</a:t>
            </a:r>
          </a:p>
        </p:txBody>
      </p:sp>
      <p:sp>
        <p:nvSpPr>
          <p:cNvPr id="3" name="">
            <a:extLst xmlns:a="http://schemas.openxmlformats.org/drawingml/2006/main">
              <a:ext uri="{FF2B5EF4-FFF2-40B4-BE49-F238E27FC236}">
                <a16:creationId xmlns:a16="http://schemas.microsoft.com/office/drawing/2014/main" id="{BEAFD121-7E31-4380-9069-8D214375F452}"/>
              </a:ext>
            </a:extLst>
          </p:cNvPr>
          <p:cNvSpPr>
            <a:spLocks xmlns:a="http://schemas.openxmlformats.org/drawingml/2006/main" noGrp="1"/>
          </p:cNvSpPr>
          <p:nvPr/>
        </p:nvSpPr>
        <p:spPr>
          <a:xfrm xmlns:a="http://schemas.openxmlformats.org/drawingml/2006/main">
            <a:off x="762000" y="2571750"/>
            <a:ext cx="99060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5C67"/>
                </a:solidFill>
                <a:latin typeface="DejaVu Sans Mono"/>
                <a:ea typeface="DejaVu Sans Mono"/>
                <a:cs typeface="DejaVu Sans Mono"/>
              </a:defRPr>
            </a:defPPr>
          </a:lstStyle>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Producto p1 = new Producto();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p1.nombre = "Lápiz";</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Producto p2 = new Producto();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p2.nombre = "Borrador";</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System.out.println(p1.nombre);</a:t>
            </a:r>
          </a:p>
          <a:p xmlns:a="http://schemas.openxmlformats.org/drawingml/2006/main">
            <a:r>
              <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 Salida: Lápiz</a:t>
            </a:r>
          </a:p>
        </p:txBody>
      </p:sp>
      <p:sp>
        <p:nvSpPr>
          <p:cNvPr id="4" name="">
            <a:extLst xmlns:a="http://schemas.openxmlformats.org/drawingml/2006/main">
              <a:ext uri="{FF2B5EF4-FFF2-40B4-BE49-F238E27FC236}">
                <a16:creationId xmlns:a16="http://schemas.microsoft.com/office/drawing/2014/main" id="{C72EDE66-27B9-4D2B-8638-E3A24A44D83B}"/>
              </a:ext>
            </a:extLst>
          </p:cNvPr>
          <p:cNvSpPr>
            <a:spLocks xmlns:a="http://schemas.openxmlformats.org/drawingml/2006/main" noGrp="1"/>
          </p:cNvSpPr>
          <p:nvPr/>
        </p:nvSpPr>
        <p:spPr>
          <a:xfrm xmlns:a="http://schemas.openxmlformats.org/drawingml/2006/main">
            <a:off x="11049000" y="2571750"/>
            <a:ext cx="3333750" cy="457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43"/>
                </a:solidFill>
                <a:latin typeface="DejaVu Sans"/>
                <a:ea typeface="DejaVu Sans"/>
                <a:cs typeface="DejaVu Sans"/>
              </a:defRPr>
            </a:defPPr>
          </a:lstStyle>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Ahora hay dos objetos independientes.</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Modificar p2.nombre no cambia p1.nombre.</a:t>
            </a:r>
          </a:p>
        </p:txBody>
      </p:sp>
      <p:sp>
        <p:nvSpPr>
          <p:cNvPr id="5" name="">
            <a:extLst xmlns:a="http://schemas.openxmlformats.org/drawingml/2006/main">
              <a:ext uri="{FF2B5EF4-FFF2-40B4-BE49-F238E27FC236}">
                <a16:creationId xmlns:a16="http://schemas.microsoft.com/office/drawing/2014/main" id="{B6841E0B-3F46-4202-858D-7B3D540CAAC2}"/>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09     17–19 min</a:t>
            </a:r>
          </a:p>
        </p:txBody>
      </p:sp>
    </p:spTree>
    <p:extLst>
      <p:ext uri="{BB962C8B-B14F-4D97-AF65-F5344CB8AC3E}">
        <p14:creationId xmlns:p14="http://schemas.microsoft.com/office/powerpoint/2010/main" val="1853695975"/>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37FEAE-33EC-4C0B-94E7-683C223441DB}"/>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UNIDAD 3 · PRÁCTICA DE POO</a:t>
            </a:r>
          </a:p>
        </p:txBody>
      </p:sp>
      <p:sp>
        <p:nvSpPr>
          <p:cNvPr id="2" name="">
            <a:extLst xmlns:a="http://schemas.openxmlformats.org/drawingml/2006/main">
              <a:ext uri="{FF2B5EF4-FFF2-40B4-BE49-F238E27FC236}">
                <a16:creationId xmlns:a16="http://schemas.microsoft.com/office/drawing/2014/main" id="{46748DED-8FBC-4B11-BA1B-C01A07F64739}"/>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Predicción rápida</a:t>
            </a:r>
          </a:p>
        </p:txBody>
      </p:sp>
      <p:sp>
        <p:nvSpPr>
          <p:cNvPr id="3" name="">
            <a:extLst xmlns:a="http://schemas.openxmlformats.org/drawingml/2006/main">
              <a:ext uri="{FF2B5EF4-FFF2-40B4-BE49-F238E27FC236}">
                <a16:creationId xmlns:a16="http://schemas.microsoft.com/office/drawing/2014/main" id="{E70D9456-691A-427D-9382-6B8B35D2C116}"/>
              </a:ext>
            </a:extLst>
          </p:cNvPr>
          <p:cNvSpPr>
            <a:spLocks xmlns:a="http://schemas.openxmlformats.org/drawingml/2006/main" noGrp="1"/>
          </p:cNvSpPr>
          <p:nvPr/>
        </p:nvSpPr>
        <p:spPr>
          <a:xfrm xmlns:a="http://schemas.openxmlformats.org/drawingml/2006/main">
            <a:off x="762000" y="2571750"/>
            <a:ext cx="99060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5C67"/>
                </a:solidFill>
                <a:latin typeface="DejaVu Sans Mono"/>
                <a:ea typeface="DejaVu Sans Mono"/>
                <a:cs typeface="DejaVu Sans Mono"/>
              </a:defRPr>
            </a:defPPr>
          </a:lstStyle>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Producto a = new Producto();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a.stock = 10;</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Producto b = a;</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b.stock = b.stock - 2;</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Producto c = new Producto();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c.stock = 5;</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System.out.println(a.stock + " : " + c.stock);</a:t>
            </a:r>
          </a:p>
        </p:txBody>
      </p:sp>
      <p:sp>
        <p:nvSpPr>
          <p:cNvPr id="4" name="">
            <a:extLst xmlns:a="http://schemas.openxmlformats.org/drawingml/2006/main">
              <a:ext uri="{FF2B5EF4-FFF2-40B4-BE49-F238E27FC236}">
                <a16:creationId xmlns:a16="http://schemas.microsoft.com/office/drawing/2014/main" id="{54B510BA-B1E1-4EE6-BF99-6DCEA3F88EEC}"/>
              </a:ext>
            </a:extLst>
          </p:cNvPr>
          <p:cNvSpPr>
            <a:spLocks xmlns:a="http://schemas.openxmlformats.org/drawingml/2006/main" noGrp="1"/>
          </p:cNvSpPr>
          <p:nvPr/>
        </p:nvSpPr>
        <p:spPr>
          <a:xfrm xmlns:a="http://schemas.openxmlformats.org/drawingml/2006/main">
            <a:off x="11049000" y="2571750"/>
            <a:ext cx="3333750" cy="457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43"/>
                </a:solidFill>
                <a:latin typeface="DejaVu Sans"/>
                <a:ea typeface="DejaVu Sans"/>
                <a:cs typeface="DejaVu Sans"/>
              </a:defRPr>
            </a:defPPr>
          </a:lstStyle>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Sin ejecutar: ¿qué imprime este fragmento?</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¿Cuántos objetos existen al final?</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Justifica tu respuesta con la cantidad de new.</a:t>
            </a:r>
          </a:p>
        </p:txBody>
      </p:sp>
      <p:sp>
        <p:nvSpPr>
          <p:cNvPr id="5" name="">
            <a:extLst xmlns:a="http://schemas.openxmlformats.org/drawingml/2006/main">
              <a:ext uri="{FF2B5EF4-FFF2-40B4-BE49-F238E27FC236}">
                <a16:creationId xmlns:a16="http://schemas.microsoft.com/office/drawing/2014/main" id="{D0FA7C0C-1174-4728-8A95-D3E63EA71858}"/>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10     19–21 min</a:t>
            </a:r>
          </a:p>
        </p:txBody>
      </p:sp>
    </p:spTree>
    <p:extLst>
      <p:ext uri="{BB962C8B-B14F-4D97-AF65-F5344CB8AC3E}">
        <p14:creationId xmlns:p14="http://schemas.microsoft.com/office/powerpoint/2010/main" val="224772211"/>
      </p:ext>
    </p:extLst>
  </p:cSld>
</p:sld>
</file>

<file path=ppt/slides/slide11.xml><?xml version="1.0" encoding="utf-8"?>
<p:sld xmlns:p="http://schemas.openxmlformats.org/presentationml/2006/main">
  <p:cSld>
    <p:bg>
      <p:bgPr>
        <a:solidFill xmlns:a="http://schemas.openxmlformats.org/drawingml/2006/main">
          <a:srgbClr val="10293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685DF2-8842-4869-B9D3-556ED3837E93}"/>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70E0CE"/>
                </a:solidFill>
                <a:latin typeface="DejaVu Sans"/>
                <a:ea typeface="DejaVu Sans"/>
                <a:cs typeface="DejaVu Sans"/>
              </a:defRPr>
            </a:defPPr>
          </a:lstStyle>
          <a:p xmlns:a="http://schemas.openxmlformats.org/drawingml/2006/main">
            <a:pPr>
              <a:defRPr sz="1650" b="1">
                <a:solidFill>
                  <a:srgbClr val="70E0CE"/>
                </a:solidFill>
                <a:latin typeface="DejaVu Sans"/>
                <a:ea typeface="DejaVu Sans"/>
                <a:cs typeface="DejaVu Sans"/>
              </a:defRPr>
            </a:pPr>
            <a:r>
              <a:rPr sz="1650" b="1">
                <a:solidFill>
                  <a:srgbClr val="70E0CE"/>
                </a:solidFill>
                <a:latin typeface="DejaVu Sans"/>
                <a:ea typeface="DejaVu Sans"/>
                <a:cs typeface="DejaVu Sans"/>
              </a:rPr>
              <a:t>RETO</a:t>
            </a:r>
          </a:p>
        </p:txBody>
      </p:sp>
      <p:sp>
        <p:nvSpPr>
          <p:cNvPr id="2" name="">
            <a:extLst xmlns:a="http://schemas.openxmlformats.org/drawingml/2006/main">
              <a:ext uri="{FF2B5EF4-FFF2-40B4-BE49-F238E27FC236}">
                <a16:creationId xmlns:a16="http://schemas.microsoft.com/office/drawing/2014/main" id="{7911AC87-3AE5-42E2-B0BD-CC9F62377911}"/>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F7F6F1"/>
                </a:solidFill>
                <a:latin typeface="DejaVu Sans"/>
                <a:ea typeface="DejaVu Sans"/>
                <a:cs typeface="DejaVu Sans"/>
              </a:defRPr>
            </a:defPPr>
          </a:lstStyle>
          <a:p xmlns:a="http://schemas.openxmlformats.org/drawingml/2006/main">
            <a:pPr>
              <a:defRPr sz="3750" b="1">
                <a:solidFill>
                  <a:srgbClr val="F7F6F1"/>
                </a:solidFill>
                <a:latin typeface="DejaVu Sans"/>
                <a:ea typeface="DejaVu Sans"/>
                <a:cs typeface="DejaVu Sans"/>
              </a:defRPr>
            </a:pPr>
            <a:r>
              <a:rPr sz="3750" b="1">
                <a:solidFill>
                  <a:srgbClr val="F7F6F1"/>
                </a:solidFill>
                <a:latin typeface="DejaVu Sans"/>
                <a:ea typeface="DejaVu Sans"/>
                <a:cs typeface="DejaVu Sans"/>
              </a:rPr>
              <a:t>Reto: Biblioteca del curso</a:t>
            </a:r>
          </a:p>
        </p:txBody>
      </p:sp>
      <p:sp>
        <p:nvSpPr>
          <p:cNvPr id="3" name="">
            <a:extLst xmlns:a="http://schemas.openxmlformats.org/drawingml/2006/main">
              <a:ext uri="{FF2B5EF4-FFF2-40B4-BE49-F238E27FC236}">
                <a16:creationId xmlns:a16="http://schemas.microsoft.com/office/drawing/2014/main" id="{ECDFC403-FA43-4F78-BEDD-825282708293}"/>
              </a:ext>
            </a:extLst>
          </p:cNvPr>
          <p:cNvSpPr>
            <a:spLocks xmlns:a="http://schemas.openxmlformats.org/drawingml/2006/main" noGrp="1"/>
          </p:cNvSpPr>
          <p:nvPr/>
        </p:nvSpPr>
        <p:spPr>
          <a:xfrm xmlns:a="http://schemas.openxmlformats.org/drawingml/2006/main">
            <a:off x="762000" y="2476500"/>
            <a:ext cx="13620750" cy="514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F7F6F1"/>
                </a:solidFill>
                <a:latin typeface="DejaVu Sans"/>
                <a:ea typeface="DejaVu Sans"/>
                <a:cs typeface="DejaVu Sans"/>
              </a:defRPr>
            </a:defPPr>
          </a:lstStyle>
          <a:p xmlns:a="http://schemas.openxmlformats.org/drawingml/2006/main">
            <a:pPr>
              <a:defRPr sz="2550" b="0">
                <a:solidFill>
                  <a:srgbClr val="F7F6F1"/>
                </a:solidFill>
                <a:latin typeface="DejaVu Sans"/>
                <a:ea typeface="DejaVu Sans"/>
                <a:cs typeface="DejaVu Sans"/>
              </a:defRPr>
            </a:pPr>
            <a:r>
              <a:rPr sz="2550" b="0">
                <a:solidFill>
                  <a:srgbClr val="F7F6F1"/>
                </a:solidFill>
                <a:latin typeface="DejaVu Sans"/>
                <a:ea typeface="DejaVu Sans"/>
                <a:cs typeface="DejaVu Sans"/>
              </a:rPr>
              <a:t>Clases: Libro y Socio.</a:t>
            </a:r>
          </a:p>
          <a:p xmlns:a="http://schemas.openxmlformats.org/drawingml/2006/main">
            <a:r>
              <a:t/>
            </a:r>
          </a:p>
          <a:p xmlns:a="http://schemas.openxmlformats.org/drawingml/2006/main">
            <a:pPr>
              <a:defRPr sz="2550" b="0">
                <a:solidFill>
                  <a:srgbClr val="F7F6F1"/>
                </a:solidFill>
                <a:latin typeface="DejaVu Sans"/>
                <a:ea typeface="DejaVu Sans"/>
                <a:cs typeface="DejaVu Sans"/>
              </a:defRPr>
            </a:pPr>
            <a:r>
              <a:rPr sz="2550" b="0">
                <a:solidFill>
                  <a:srgbClr val="F7F6F1"/>
                </a:solidFill>
                <a:latin typeface="DejaVu Sans"/>
                <a:ea typeface="DejaVu Sans"/>
                <a:cs typeface="DejaVu Sans"/>
              </a:rPr>
              <a:t>Instancias: 3 libros y 2 socios.</a:t>
            </a:r>
          </a:p>
          <a:p xmlns:a="http://schemas.openxmlformats.org/drawingml/2006/main">
            <a:r>
              <a:t/>
            </a:r>
          </a:p>
          <a:p xmlns:a="http://schemas.openxmlformats.org/drawingml/2006/main">
            <a:pPr>
              <a:defRPr sz="2550" b="0">
                <a:solidFill>
                  <a:srgbClr val="F7F6F1"/>
                </a:solidFill>
                <a:latin typeface="DejaVu Sans"/>
                <a:ea typeface="DejaVu Sans"/>
                <a:cs typeface="DejaVu Sans"/>
              </a:defRPr>
            </a:pPr>
            <a:r>
              <a:rPr sz="2550" b="0">
                <a:solidFill>
                  <a:srgbClr val="F7F6F1"/>
                </a:solidFill>
                <a:latin typeface="DejaVu Sans"/>
                <a:ea typeface="DejaVu Sans"/>
                <a:cs typeface="DejaVu Sans"/>
              </a:rPr>
              <a:t>Acción: el primer socio toma prestado el segundo libro.</a:t>
            </a:r>
          </a:p>
          <a:p xmlns:a="http://schemas.openxmlformats.org/drawingml/2006/main">
            <a:r>
              <a:t/>
            </a:r>
          </a:p>
          <a:p xmlns:a="http://schemas.openxmlformats.org/drawingml/2006/main">
            <a:pPr>
              <a:defRPr sz="2550" b="0">
                <a:solidFill>
                  <a:srgbClr val="F7F6F1"/>
                </a:solidFill>
                <a:latin typeface="DejaVu Sans"/>
                <a:ea typeface="DejaVu Sans"/>
                <a:cs typeface="DejaVu Sans"/>
              </a:defRPr>
            </a:pPr>
            <a:r>
              <a:rPr sz="2550" b="0">
                <a:solidFill>
                  <a:srgbClr val="F7F6F1"/>
                </a:solidFill>
                <a:latin typeface="DejaVu Sans"/>
                <a:ea typeface="DejaVu Sans"/>
                <a:cs typeface="DejaVu Sans"/>
              </a:rPr>
              <a:t>Resultado: mostrar el estado final de todos los objetos.</a:t>
            </a:r>
          </a:p>
        </p:txBody>
      </p:sp>
      <p:sp>
        <p:nvSpPr>
          <p:cNvPr id="4" name="">
            <a:extLst xmlns:a="http://schemas.openxmlformats.org/drawingml/2006/main">
              <a:ext uri="{FF2B5EF4-FFF2-40B4-BE49-F238E27FC236}">
                <a16:creationId xmlns:a16="http://schemas.microsoft.com/office/drawing/2014/main" id="{0ADA70CF-719D-4949-9F57-D5F49BB5E808}"/>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ADBBC5"/>
                </a:solidFill>
                <a:latin typeface="DejaVu Sans"/>
                <a:ea typeface="DejaVu Sans"/>
                <a:cs typeface="DejaVu Sans"/>
              </a:defRPr>
            </a:defPPr>
          </a:lstStyle>
          <a:p xmlns:a="http://schemas.openxmlformats.org/drawingml/2006/main">
            <a:pPr>
              <a:defRPr sz="1500" b="0">
                <a:solidFill>
                  <a:srgbClr val="ADBBC5"/>
                </a:solidFill>
                <a:latin typeface="DejaVu Sans"/>
                <a:ea typeface="DejaVu Sans"/>
                <a:cs typeface="DejaVu Sans"/>
              </a:defRPr>
            </a:pPr>
            <a:r>
              <a:rPr sz="1500" b="0">
                <a:solidFill>
                  <a:srgbClr val="ADBBC5"/>
                </a:solidFill>
                <a:latin typeface="DejaVu Sans"/>
                <a:ea typeface="DejaVu Sans"/>
                <a:cs typeface="DejaVu Sans"/>
              </a:rPr>
              <a:t>11     21–23 min</a:t>
            </a:r>
          </a:p>
        </p:txBody>
      </p:sp>
    </p:spTree>
    <p:extLst>
      <p:ext uri="{BB962C8B-B14F-4D97-AF65-F5344CB8AC3E}">
        <p14:creationId xmlns:p14="http://schemas.microsoft.com/office/powerpoint/2010/main" val="1055330747"/>
      </p:ext>
    </p:extLst>
  </p:cSld>
</p:sld>
</file>

<file path=ppt/slides/slide1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682214-6234-49D7-970C-BFB4334EAF64}"/>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UNIDAD 3 · PRÁCTICA DE POO</a:t>
            </a:r>
          </a:p>
        </p:txBody>
      </p:sp>
      <p:sp>
        <p:nvSpPr>
          <p:cNvPr id="2" name="">
            <a:extLst xmlns:a="http://schemas.openxmlformats.org/drawingml/2006/main">
              <a:ext uri="{FF2B5EF4-FFF2-40B4-BE49-F238E27FC236}">
                <a16:creationId xmlns:a16="http://schemas.microsoft.com/office/drawing/2014/main" id="{12148B1B-E938-4B95-A05C-E99EC4611C0B}"/>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Datos que necesita la biblioteca</a:t>
            </a:r>
          </a:p>
        </p:txBody>
      </p:sp>
      <p:sp>
        <p:nvSpPr>
          <p:cNvPr id="3" name="">
            <a:extLst xmlns:a="http://schemas.openxmlformats.org/drawingml/2006/main">
              <a:ext uri="{FF2B5EF4-FFF2-40B4-BE49-F238E27FC236}">
                <a16:creationId xmlns:a16="http://schemas.microsoft.com/office/drawing/2014/main" id="{AFBC1F25-0513-40D5-8053-12DA543BCEE6}"/>
              </a:ext>
            </a:extLst>
          </p:cNvPr>
          <p:cNvSpPr>
            <a:spLocks xmlns:a="http://schemas.openxmlformats.org/drawingml/2006/main" noGrp="1"/>
          </p:cNvSpPr>
          <p:nvPr/>
        </p:nvSpPr>
        <p:spPr>
          <a:xfrm xmlns:a="http://schemas.openxmlformats.org/drawingml/2006/main">
            <a:off x="762000" y="2476500"/>
            <a:ext cx="13620750" cy="514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142C43"/>
                </a:solidFill>
                <a:latin typeface="DejaVu Sans"/>
                <a:ea typeface="DejaVu Sans"/>
                <a:cs typeface="DejaVu Sans"/>
              </a:defRPr>
            </a:defPPr>
          </a:lstStyle>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Libro</a:t>
            </a:r>
          </a:p>
          <a:p xmlns:a="http://schemas.openxmlformats.org/drawingml/2006/main">
            <a:r>
              <a:t/>
            </a:r>
          </a:p>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String titulo    String autor    int anio</a:t>
            </a:r>
          </a:p>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boolean disponible</a:t>
            </a:r>
          </a:p>
          <a:p xmlns:a="http://schemas.openxmlformats.org/drawingml/2006/main">
            <a:r>
              <a:t/>
            </a:r>
          </a:p>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Socio</a:t>
            </a:r>
          </a:p>
          <a:p xmlns:a="http://schemas.openxmlformats.org/drawingml/2006/main">
            <a:r>
              <a:t/>
            </a:r>
          </a:p>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String nombre    String cedula</a:t>
            </a:r>
          </a:p>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int librosPrestados</a:t>
            </a:r>
          </a:p>
        </p:txBody>
      </p:sp>
      <p:sp>
        <p:nvSpPr>
          <p:cNvPr id="4" name="">
            <a:extLst xmlns:a="http://schemas.openxmlformats.org/drawingml/2006/main">
              <a:ext uri="{FF2B5EF4-FFF2-40B4-BE49-F238E27FC236}">
                <a16:creationId xmlns:a16="http://schemas.microsoft.com/office/drawing/2014/main" id="{66E1B5B0-8BE9-4E53-947A-D73CBAA0F2D5}"/>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12     23–25 min</a:t>
            </a:r>
          </a:p>
        </p:txBody>
      </p:sp>
    </p:spTree>
    <p:extLst>
      <p:ext uri="{BB962C8B-B14F-4D97-AF65-F5344CB8AC3E}">
        <p14:creationId xmlns:p14="http://schemas.microsoft.com/office/powerpoint/2010/main" val="1036950812"/>
      </p:ext>
    </p:extLst>
  </p:cSld>
</p:sld>
</file>

<file path=ppt/slides/slide1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C2DD88-81B1-4E7E-99C9-B4BD9A714A42}"/>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PRÁCTICA EN PAREJAS</a:t>
            </a:r>
          </a:p>
        </p:txBody>
      </p:sp>
      <p:sp>
        <p:nvSpPr>
          <p:cNvPr id="2" name="">
            <a:extLst xmlns:a="http://schemas.openxmlformats.org/drawingml/2006/main">
              <a:ext uri="{FF2B5EF4-FFF2-40B4-BE49-F238E27FC236}">
                <a16:creationId xmlns:a16="http://schemas.microsoft.com/office/drawing/2014/main" id="{CDF16B4D-7EAD-4470-92F9-454D8FE448FA}"/>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Paso 1: crear las clases</a:t>
            </a:r>
          </a:p>
        </p:txBody>
      </p:sp>
      <p:sp>
        <p:nvSpPr>
          <p:cNvPr id="3" name="">
            <a:extLst xmlns:a="http://schemas.openxmlformats.org/drawingml/2006/main">
              <a:ext uri="{FF2B5EF4-FFF2-40B4-BE49-F238E27FC236}">
                <a16:creationId xmlns:a16="http://schemas.microsoft.com/office/drawing/2014/main" id="{C91064B4-C245-42D6-93A2-30C23BAE0E63}"/>
              </a:ext>
            </a:extLst>
          </p:cNvPr>
          <p:cNvSpPr>
            <a:spLocks xmlns:a="http://schemas.openxmlformats.org/drawingml/2006/main" noGrp="1"/>
          </p:cNvSpPr>
          <p:nvPr/>
        </p:nvSpPr>
        <p:spPr>
          <a:xfrm xmlns:a="http://schemas.openxmlformats.org/drawingml/2006/main">
            <a:off x="762000" y="2571750"/>
            <a:ext cx="99060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5C67"/>
                </a:solidFill>
                <a:latin typeface="DejaVu Sans Mono"/>
                <a:ea typeface="DejaVu Sans Mono"/>
                <a:cs typeface="DejaVu Sans Mono"/>
              </a:defRPr>
            </a:defPPr>
          </a:lstStyle>
          <a:p xmlns:a="http://schemas.openxmlformats.org/drawingml/2006/main">
            <a:pPr>
              <a:defRPr sz="2100" b="0">
                <a:solidFill>
                  <a:srgbClr val="145C67"/>
                </a:solidFill>
                <a:latin typeface="DejaVu Sans Mono"/>
                <a:ea typeface="DejaVu Sans Mono"/>
                <a:cs typeface="DejaVu Sans Mono"/>
              </a:defRPr>
            </a:pPr>
            <a:r>
              <a:rPr sz="2100" b="0">
                <a:solidFill>
                  <a:srgbClr val="145C67"/>
                </a:solidFill>
                <a:latin typeface="DejaVu Sans Mono"/>
                <a:ea typeface="DejaVu Sans Mono"/>
                <a:cs typeface="DejaVu Sans Mono"/>
              </a:rPr>
              <a:t>public class Libro {</a:t>
            </a:r>
          </a:p>
          <a:p xmlns:a="http://schemas.openxmlformats.org/drawingml/2006/main">
            <a:pPr>
              <a:defRPr sz="2100" b="0">
                <a:solidFill>
                  <a:srgbClr val="145C67"/>
                </a:solidFill>
                <a:latin typeface="DejaVu Sans Mono"/>
                <a:ea typeface="DejaVu Sans Mono"/>
                <a:cs typeface="DejaVu Sans Mono"/>
              </a:defRPr>
            </a:pPr>
            <a:r>
              <a:rPr sz="2100" b="0">
                <a:solidFill>
                  <a:srgbClr val="145C67"/>
                </a:solidFill>
                <a:latin typeface="DejaVu Sans Mono"/>
                <a:ea typeface="DejaVu Sans Mono"/>
                <a:cs typeface="DejaVu Sans Mono"/>
              </a:rPr>
              <a:t>    String titulo;</a:t>
            </a:r>
          </a:p>
          <a:p xmlns:a="http://schemas.openxmlformats.org/drawingml/2006/main">
            <a:pPr>
              <a:defRPr sz="2100" b="0">
                <a:solidFill>
                  <a:srgbClr val="145C67"/>
                </a:solidFill>
                <a:latin typeface="DejaVu Sans Mono"/>
                <a:ea typeface="DejaVu Sans Mono"/>
                <a:cs typeface="DejaVu Sans Mono"/>
              </a:defRPr>
            </a:pPr>
            <a:r>
              <a:rPr sz="2100" b="0">
                <a:solidFill>
                  <a:srgbClr val="145C67"/>
                </a:solidFill>
                <a:latin typeface="DejaVu Sans Mono"/>
                <a:ea typeface="DejaVu Sans Mono"/>
                <a:cs typeface="DejaVu Sans Mono"/>
              </a:rPr>
              <a:t>    String autor;</a:t>
            </a:r>
          </a:p>
          <a:p xmlns:a="http://schemas.openxmlformats.org/drawingml/2006/main">
            <a:pPr>
              <a:defRPr sz="2100" b="0">
                <a:solidFill>
                  <a:srgbClr val="145C67"/>
                </a:solidFill>
                <a:latin typeface="DejaVu Sans Mono"/>
                <a:ea typeface="DejaVu Sans Mono"/>
                <a:cs typeface="DejaVu Sans Mono"/>
              </a:defRPr>
            </a:pPr>
            <a:r>
              <a:rPr sz="2100" b="0">
                <a:solidFill>
                  <a:srgbClr val="145C67"/>
                </a:solidFill>
                <a:latin typeface="DejaVu Sans Mono"/>
                <a:ea typeface="DejaVu Sans Mono"/>
                <a:cs typeface="DejaVu Sans Mono"/>
              </a:rPr>
              <a:t>    int anio;</a:t>
            </a:r>
          </a:p>
          <a:p xmlns:a="http://schemas.openxmlformats.org/drawingml/2006/main">
            <a:pPr>
              <a:defRPr sz="2100" b="0">
                <a:solidFill>
                  <a:srgbClr val="145C67"/>
                </a:solidFill>
                <a:latin typeface="DejaVu Sans Mono"/>
                <a:ea typeface="DejaVu Sans Mono"/>
                <a:cs typeface="DejaVu Sans Mono"/>
              </a:defRPr>
            </a:pPr>
            <a:r>
              <a:rPr sz="2100" b="0">
                <a:solidFill>
                  <a:srgbClr val="145C67"/>
                </a:solidFill>
                <a:latin typeface="DejaVu Sans Mono"/>
                <a:ea typeface="DejaVu Sans Mono"/>
                <a:cs typeface="DejaVu Sans Mono"/>
              </a:rPr>
              <a:t>    boolean disponible;</a:t>
            </a:r>
          </a:p>
          <a:p xmlns:a="http://schemas.openxmlformats.org/drawingml/2006/main">
            <a:pPr>
              <a:defRPr sz="2100" b="0">
                <a:solidFill>
                  <a:srgbClr val="145C67"/>
                </a:solidFill>
                <a:latin typeface="DejaVu Sans Mono"/>
                <a:ea typeface="DejaVu Sans Mono"/>
                <a:cs typeface="DejaVu Sans Mono"/>
              </a:defRPr>
            </a:pPr>
            <a:r>
              <a:rPr sz="2100" b="0">
                <a:solidFill>
                  <a:srgbClr val="145C67"/>
                </a:solidFill>
                <a:latin typeface="DejaVu Sans Mono"/>
                <a:ea typeface="DejaVu Sans Mono"/>
                <a:cs typeface="DejaVu Sans Mono"/>
              </a:rPr>
              <a:t>}</a:t>
            </a:r>
          </a:p>
          <a:p xmlns:a="http://schemas.openxmlformats.org/drawingml/2006/main">
            <a:r>
              <a:t/>
            </a:r>
          </a:p>
          <a:p xmlns:a="http://schemas.openxmlformats.org/drawingml/2006/main">
            <a:pPr>
              <a:defRPr sz="2100" b="0">
                <a:solidFill>
                  <a:srgbClr val="145C67"/>
                </a:solidFill>
                <a:latin typeface="DejaVu Sans Mono"/>
                <a:ea typeface="DejaVu Sans Mono"/>
                <a:cs typeface="DejaVu Sans Mono"/>
              </a:defRPr>
            </a:pPr>
            <a:r>
              <a:rPr sz="2100" b="0">
                <a:solidFill>
                  <a:srgbClr val="145C67"/>
                </a:solidFill>
                <a:latin typeface="DejaVu Sans Mono"/>
                <a:ea typeface="DejaVu Sans Mono"/>
                <a:cs typeface="DejaVu Sans Mono"/>
              </a:rPr>
              <a:t>public class Socio {</a:t>
            </a:r>
          </a:p>
          <a:p xmlns:a="http://schemas.openxmlformats.org/drawingml/2006/main">
            <a:pPr>
              <a:defRPr sz="2100" b="0">
                <a:solidFill>
                  <a:srgbClr val="145C67"/>
                </a:solidFill>
                <a:latin typeface="DejaVu Sans Mono"/>
                <a:ea typeface="DejaVu Sans Mono"/>
                <a:cs typeface="DejaVu Sans Mono"/>
              </a:defRPr>
            </a:pPr>
            <a:r>
              <a:rPr sz="2100" b="0">
                <a:solidFill>
                  <a:srgbClr val="145C67"/>
                </a:solidFill>
                <a:latin typeface="DejaVu Sans Mono"/>
                <a:ea typeface="DejaVu Sans Mono"/>
                <a:cs typeface="DejaVu Sans Mono"/>
              </a:rPr>
              <a:t>    String nombre;</a:t>
            </a:r>
          </a:p>
          <a:p xmlns:a="http://schemas.openxmlformats.org/drawingml/2006/main">
            <a:pPr>
              <a:defRPr sz="2100" b="0">
                <a:solidFill>
                  <a:srgbClr val="145C67"/>
                </a:solidFill>
                <a:latin typeface="DejaVu Sans Mono"/>
                <a:ea typeface="DejaVu Sans Mono"/>
                <a:cs typeface="DejaVu Sans Mono"/>
              </a:defRPr>
            </a:pPr>
            <a:r>
              <a:rPr sz="2100" b="0">
                <a:solidFill>
                  <a:srgbClr val="145C67"/>
                </a:solidFill>
                <a:latin typeface="DejaVu Sans Mono"/>
                <a:ea typeface="DejaVu Sans Mono"/>
                <a:cs typeface="DejaVu Sans Mono"/>
              </a:rPr>
              <a:t>    String cedula;</a:t>
            </a:r>
          </a:p>
          <a:p xmlns:a="http://schemas.openxmlformats.org/drawingml/2006/main">
            <a:pPr>
              <a:defRPr sz="2100" b="0">
                <a:solidFill>
                  <a:srgbClr val="145C67"/>
                </a:solidFill>
                <a:latin typeface="DejaVu Sans Mono"/>
                <a:ea typeface="DejaVu Sans Mono"/>
                <a:cs typeface="DejaVu Sans Mono"/>
              </a:defRPr>
            </a:pPr>
            <a:r>
              <a:rPr sz="2100" b="0">
                <a:solidFill>
                  <a:srgbClr val="145C67"/>
                </a:solidFill>
                <a:latin typeface="DejaVu Sans Mono"/>
                <a:ea typeface="DejaVu Sans Mono"/>
                <a:cs typeface="DejaVu Sans Mono"/>
              </a:rPr>
              <a:t>    int librosPrestados;</a:t>
            </a:r>
          </a:p>
          <a:p xmlns:a="http://schemas.openxmlformats.org/drawingml/2006/main">
            <a:pPr>
              <a:defRPr sz="2100" b="0">
                <a:solidFill>
                  <a:srgbClr val="145C67"/>
                </a:solidFill>
                <a:latin typeface="DejaVu Sans Mono"/>
                <a:ea typeface="DejaVu Sans Mono"/>
                <a:cs typeface="DejaVu Sans Mono"/>
              </a:defRPr>
            </a:pPr>
            <a:r>
              <a:rPr sz="2100" b="0">
                <a:solidFill>
                  <a:srgbClr val="145C67"/>
                </a:solidFill>
                <a:latin typeface="DejaVu Sans Mono"/>
                <a:ea typeface="DejaVu Sans Mono"/>
                <a:cs typeface="DejaVu Sans Mono"/>
              </a:rPr>
              <a:t>}</a:t>
            </a:r>
          </a:p>
        </p:txBody>
      </p:sp>
      <p:sp>
        <p:nvSpPr>
          <p:cNvPr id="4" name="">
            <a:extLst xmlns:a="http://schemas.openxmlformats.org/drawingml/2006/main">
              <a:ext uri="{FF2B5EF4-FFF2-40B4-BE49-F238E27FC236}">
                <a16:creationId xmlns:a16="http://schemas.microsoft.com/office/drawing/2014/main" id="{9DE3F27D-07DC-4481-9C1D-789A6896A35C}"/>
              </a:ext>
            </a:extLst>
          </p:cNvPr>
          <p:cNvSpPr>
            <a:spLocks xmlns:a="http://schemas.openxmlformats.org/drawingml/2006/main" noGrp="1"/>
          </p:cNvSpPr>
          <p:nvPr/>
        </p:nvSpPr>
        <p:spPr>
          <a:xfrm xmlns:a="http://schemas.openxmlformats.org/drawingml/2006/main">
            <a:off x="11049000" y="2571750"/>
            <a:ext cx="3333750" cy="457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43"/>
                </a:solidFill>
                <a:latin typeface="DejaVu Sans"/>
                <a:ea typeface="DejaVu Sans"/>
                <a:cs typeface="DejaVu Sans"/>
              </a:defRPr>
            </a:defPPr>
          </a:lstStyle>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Un archivo por clase pública.</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Libro.java y Socio.java dentro del mismo paquete.</a:t>
            </a:r>
          </a:p>
        </p:txBody>
      </p:sp>
      <p:sp>
        <p:nvSpPr>
          <p:cNvPr id="5" name="">
            <a:extLst xmlns:a="http://schemas.openxmlformats.org/drawingml/2006/main">
              <a:ext uri="{FF2B5EF4-FFF2-40B4-BE49-F238E27FC236}">
                <a16:creationId xmlns:a16="http://schemas.microsoft.com/office/drawing/2014/main" id="{97B9BC08-D4FA-45F9-B6C1-74041E48EE89}"/>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13     25–29 min</a:t>
            </a:r>
          </a:p>
        </p:txBody>
      </p:sp>
    </p:spTree>
    <p:extLst>
      <p:ext uri="{BB962C8B-B14F-4D97-AF65-F5344CB8AC3E}">
        <p14:creationId xmlns:p14="http://schemas.microsoft.com/office/powerpoint/2010/main" val="206488350"/>
      </p:ext>
    </p:extLst>
  </p:cSld>
</p:sld>
</file>

<file path=ppt/slides/slide1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35DBCF-5857-4212-AF3C-97E9E238F3A3}"/>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UNIDAD 3 · PRÁCTICA DE POO</a:t>
            </a:r>
          </a:p>
        </p:txBody>
      </p:sp>
      <p:sp>
        <p:nvSpPr>
          <p:cNvPr id="2" name="">
            <a:extLst xmlns:a="http://schemas.openxmlformats.org/drawingml/2006/main">
              <a:ext uri="{FF2B5EF4-FFF2-40B4-BE49-F238E27FC236}">
                <a16:creationId xmlns:a16="http://schemas.microsoft.com/office/drawing/2014/main" id="{EE894C00-179A-4C45-B013-3DE6D4D52164}"/>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Paso 2: crear Main</a:t>
            </a:r>
          </a:p>
        </p:txBody>
      </p:sp>
      <p:sp>
        <p:nvSpPr>
          <p:cNvPr id="3" name="">
            <a:extLst xmlns:a="http://schemas.openxmlformats.org/drawingml/2006/main">
              <a:ext uri="{FF2B5EF4-FFF2-40B4-BE49-F238E27FC236}">
                <a16:creationId xmlns:a16="http://schemas.microsoft.com/office/drawing/2014/main" id="{AD29A9BB-B3D3-4C43-ADAB-B89ECA07A839}"/>
              </a:ext>
            </a:extLst>
          </p:cNvPr>
          <p:cNvSpPr>
            <a:spLocks xmlns:a="http://schemas.openxmlformats.org/drawingml/2006/main" noGrp="1"/>
          </p:cNvSpPr>
          <p:nvPr/>
        </p:nvSpPr>
        <p:spPr>
          <a:xfrm xmlns:a="http://schemas.openxmlformats.org/drawingml/2006/main">
            <a:off x="762000" y="2571750"/>
            <a:ext cx="99060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5C67"/>
                </a:solidFill>
                <a:latin typeface="DejaVu Sans Mono"/>
                <a:ea typeface="DejaVu Sans Mono"/>
                <a:cs typeface="DejaVu Sans Mono"/>
              </a:defRPr>
            </a:defPPr>
          </a:lstStyle>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public class Main {</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    public static void main(String[] args) {</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        // Crear libros y socios</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        // Mostrar estado inicial</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        // Registrar el préstamo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        // Mostrar estado final</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    }</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a:t>
            </a:r>
          </a:p>
        </p:txBody>
      </p:sp>
      <p:sp>
        <p:nvSpPr>
          <p:cNvPr id="4" name="">
            <a:extLst xmlns:a="http://schemas.openxmlformats.org/drawingml/2006/main">
              <a:ext uri="{FF2B5EF4-FFF2-40B4-BE49-F238E27FC236}">
                <a16:creationId xmlns:a16="http://schemas.microsoft.com/office/drawing/2014/main" id="{64B121A3-6BCC-4106-992E-15E1298B040C}"/>
              </a:ext>
            </a:extLst>
          </p:cNvPr>
          <p:cNvSpPr>
            <a:spLocks xmlns:a="http://schemas.openxmlformats.org/drawingml/2006/main" noGrp="1"/>
          </p:cNvSpPr>
          <p:nvPr/>
        </p:nvSpPr>
        <p:spPr>
          <a:xfrm xmlns:a="http://schemas.openxmlformats.org/drawingml/2006/main">
            <a:off x="11049000" y="2571750"/>
            <a:ext cx="3333750" cy="457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43"/>
                </a:solidFill>
                <a:latin typeface="DejaVu Sans"/>
                <a:ea typeface="DejaVu Sans"/>
                <a:cs typeface="DejaVu Sans"/>
              </a:defRPr>
            </a:defPPr>
          </a:lstStyle>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Main.java contiene el punto de entrada.</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Las siguientes instrucciones se escriben dentro de main.</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Una persona escribe y la otra predice los resultados.</a:t>
            </a:r>
          </a:p>
        </p:txBody>
      </p:sp>
      <p:sp>
        <p:nvSpPr>
          <p:cNvPr id="5" name="">
            <a:extLst xmlns:a="http://schemas.openxmlformats.org/drawingml/2006/main">
              <a:ext uri="{FF2B5EF4-FFF2-40B4-BE49-F238E27FC236}">
                <a16:creationId xmlns:a16="http://schemas.microsoft.com/office/drawing/2014/main" id="{F32928EC-7532-422F-995F-A6ACCA56FDE4}"/>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14     29–32 min</a:t>
            </a:r>
          </a:p>
        </p:txBody>
      </p:sp>
    </p:spTree>
    <p:extLst>
      <p:ext uri="{BB962C8B-B14F-4D97-AF65-F5344CB8AC3E}">
        <p14:creationId xmlns:p14="http://schemas.microsoft.com/office/powerpoint/2010/main" val="1349023171"/>
      </p:ext>
    </p:extLst>
  </p:cSld>
</p:sld>
</file>

<file path=ppt/slides/slide1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A748033-7B53-4B48-A1FF-7A3970D56E7B}"/>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UNIDAD 3 · PRÁCTICA DE POO</a:t>
            </a:r>
          </a:p>
        </p:txBody>
      </p:sp>
      <p:sp>
        <p:nvSpPr>
          <p:cNvPr id="2" name="">
            <a:extLst xmlns:a="http://schemas.openxmlformats.org/drawingml/2006/main">
              <a:ext uri="{FF2B5EF4-FFF2-40B4-BE49-F238E27FC236}">
                <a16:creationId xmlns:a16="http://schemas.microsoft.com/office/drawing/2014/main" id="{039B02D7-52BB-4DE8-BA3B-E417C6C45CC1}"/>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Paso 3: crear los tres libros</a:t>
            </a:r>
          </a:p>
        </p:txBody>
      </p:sp>
      <p:sp>
        <p:nvSpPr>
          <p:cNvPr id="3" name="">
            <a:extLst xmlns:a="http://schemas.openxmlformats.org/drawingml/2006/main">
              <a:ext uri="{FF2B5EF4-FFF2-40B4-BE49-F238E27FC236}">
                <a16:creationId xmlns:a16="http://schemas.microsoft.com/office/drawing/2014/main" id="{8C89BE25-8D1A-45F9-ACD2-A0BF3D40ED8E}"/>
              </a:ext>
            </a:extLst>
          </p:cNvPr>
          <p:cNvSpPr>
            <a:spLocks xmlns:a="http://schemas.openxmlformats.org/drawingml/2006/main" noGrp="1"/>
          </p:cNvSpPr>
          <p:nvPr/>
        </p:nvSpPr>
        <p:spPr>
          <a:xfrm xmlns:a="http://schemas.openxmlformats.org/drawingml/2006/main">
            <a:off x="762000" y="2571750"/>
            <a:ext cx="99060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5C67"/>
                </a:solidFill>
                <a:latin typeface="DejaVu Sans Mono"/>
                <a:ea typeface="DejaVu Sans Mono"/>
                <a:cs typeface="DejaVu Sans Mono"/>
              </a:defRPr>
            </a:defPPr>
          </a:lstStyle>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Libro l1 = new Libro();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l1.titulo = "El principito"; l1.autor = "Saint-Exupéry";</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l1.anio = 1943; l1.disponible = true;</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Libro l2 = new Libro();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l2.titulo = "Don Quijote"; l2.autor = "Cervantes";</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l2.anio = 1605; l2.disponible = true;</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Libro l3 = new Libro();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l3.titulo = "La Odisea"; l3.autor = "Homero";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l3.anio = 2020; l3.disponible = true;</a:t>
            </a:r>
          </a:p>
        </p:txBody>
      </p:sp>
      <p:sp>
        <p:nvSpPr>
          <p:cNvPr id="4" name="">
            <a:extLst xmlns:a="http://schemas.openxmlformats.org/drawingml/2006/main">
              <a:ext uri="{FF2B5EF4-FFF2-40B4-BE49-F238E27FC236}">
                <a16:creationId xmlns:a16="http://schemas.microsoft.com/office/drawing/2014/main" id="{856B3CA3-C02F-4B0A-9F1A-6935E5C341E7}"/>
              </a:ext>
            </a:extLst>
          </p:cNvPr>
          <p:cNvSpPr>
            <a:spLocks xmlns:a="http://schemas.openxmlformats.org/drawingml/2006/main" noGrp="1"/>
          </p:cNvSpPr>
          <p:nvPr/>
        </p:nvSpPr>
        <p:spPr>
          <a:xfrm xmlns:a="http://schemas.openxmlformats.org/drawingml/2006/main">
            <a:off x="11049000" y="2571750"/>
            <a:ext cx="3333750" cy="457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43"/>
                </a:solidFill>
                <a:latin typeface="DejaVu Sans"/>
                <a:ea typeface="DejaVu Sans"/>
                <a:cs typeface="DejaVu Sans"/>
              </a:defRPr>
            </a:defPPr>
          </a:lstStyle>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Cada new crea un Libro con sus propios datos.</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Todos empiezan disponibles.</a:t>
            </a:r>
          </a:p>
        </p:txBody>
      </p:sp>
      <p:sp>
        <p:nvSpPr>
          <p:cNvPr id="5" name="">
            <a:extLst xmlns:a="http://schemas.openxmlformats.org/drawingml/2006/main">
              <a:ext uri="{FF2B5EF4-FFF2-40B4-BE49-F238E27FC236}">
                <a16:creationId xmlns:a16="http://schemas.microsoft.com/office/drawing/2014/main" id="{7F3458F4-3C72-4210-9A84-15BE13961B52}"/>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15     32–37 min</a:t>
            </a:r>
          </a:p>
        </p:txBody>
      </p:sp>
    </p:spTree>
    <p:extLst>
      <p:ext uri="{BB962C8B-B14F-4D97-AF65-F5344CB8AC3E}">
        <p14:creationId xmlns:p14="http://schemas.microsoft.com/office/powerpoint/2010/main" val="880516560"/>
      </p:ext>
    </p:extLst>
  </p:cSld>
</p:sld>
</file>

<file path=ppt/slides/slide1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D2EB58-1993-45F8-8133-39343514B6B8}"/>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UNIDAD 3 · PRÁCTICA DE POO</a:t>
            </a:r>
          </a:p>
        </p:txBody>
      </p:sp>
      <p:sp>
        <p:nvSpPr>
          <p:cNvPr id="2" name="">
            <a:extLst xmlns:a="http://schemas.openxmlformats.org/drawingml/2006/main">
              <a:ext uri="{FF2B5EF4-FFF2-40B4-BE49-F238E27FC236}">
                <a16:creationId xmlns:a16="http://schemas.microsoft.com/office/drawing/2014/main" id="{11FBD4CD-7D29-4827-A410-F57869DAD810}"/>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Paso 4: crear los dos socios</a:t>
            </a:r>
          </a:p>
        </p:txBody>
      </p:sp>
      <p:sp>
        <p:nvSpPr>
          <p:cNvPr id="3" name="">
            <a:extLst xmlns:a="http://schemas.openxmlformats.org/drawingml/2006/main">
              <a:ext uri="{FF2B5EF4-FFF2-40B4-BE49-F238E27FC236}">
                <a16:creationId xmlns:a16="http://schemas.microsoft.com/office/drawing/2014/main" id="{0B5ECCCD-5774-40B9-A963-DFBF349436DE}"/>
              </a:ext>
            </a:extLst>
          </p:cNvPr>
          <p:cNvSpPr>
            <a:spLocks xmlns:a="http://schemas.openxmlformats.org/drawingml/2006/main" noGrp="1"/>
          </p:cNvSpPr>
          <p:nvPr/>
        </p:nvSpPr>
        <p:spPr>
          <a:xfrm xmlns:a="http://schemas.openxmlformats.org/drawingml/2006/main">
            <a:off x="762000" y="2571750"/>
            <a:ext cx="99060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5C67"/>
                </a:solidFill>
                <a:latin typeface="DejaVu Sans Mono"/>
                <a:ea typeface="DejaVu Sans Mono"/>
                <a:cs typeface="DejaVu Sans Mono"/>
              </a:defRPr>
            </a:defPPr>
          </a:lstStyle>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Socio s1 = new Socio();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s1.nombre = "Ana";</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s1.cedula = "0000000001";</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s1.librosPrestados = 0;</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Socio s2 = new Socio();</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s2.nombre = "Luis";</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s2.cedula = "0000000002";</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s2.librosPrestados = 0;</a:t>
            </a:r>
          </a:p>
        </p:txBody>
      </p:sp>
      <p:sp>
        <p:nvSpPr>
          <p:cNvPr id="4" name="">
            <a:extLst xmlns:a="http://schemas.openxmlformats.org/drawingml/2006/main">
              <a:ext uri="{FF2B5EF4-FFF2-40B4-BE49-F238E27FC236}">
                <a16:creationId xmlns:a16="http://schemas.microsoft.com/office/drawing/2014/main" id="{1741CB79-AAF2-424C-9D66-D733E2E5DA99}"/>
              </a:ext>
            </a:extLst>
          </p:cNvPr>
          <p:cNvSpPr>
            <a:spLocks xmlns:a="http://schemas.openxmlformats.org/drawingml/2006/main" noGrp="1"/>
          </p:cNvSpPr>
          <p:nvPr/>
        </p:nvSpPr>
        <p:spPr>
          <a:xfrm xmlns:a="http://schemas.openxmlformats.org/drawingml/2006/main">
            <a:off x="11049000" y="2571750"/>
            <a:ext cx="3333750" cy="457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43"/>
                </a:solidFill>
                <a:latin typeface="DejaVu Sans"/>
                <a:ea typeface="DejaVu Sans"/>
                <a:cs typeface="DejaVu Sans"/>
              </a:defRPr>
            </a:defPPr>
          </a:lstStyle>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Dos socios distintos, cada uno con su contador.</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El estado inicial registra cero préstamos.</a:t>
            </a:r>
          </a:p>
        </p:txBody>
      </p:sp>
      <p:sp>
        <p:nvSpPr>
          <p:cNvPr id="5" name="">
            <a:extLst xmlns:a="http://schemas.openxmlformats.org/drawingml/2006/main">
              <a:ext uri="{FF2B5EF4-FFF2-40B4-BE49-F238E27FC236}">
                <a16:creationId xmlns:a16="http://schemas.microsoft.com/office/drawing/2014/main" id="{69D3DF31-6BFB-4744-BFAB-9EB4B927AAD4}"/>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16     37–41 min</a:t>
            </a:r>
          </a:p>
        </p:txBody>
      </p:sp>
    </p:spTree>
    <p:extLst>
      <p:ext uri="{BB962C8B-B14F-4D97-AF65-F5344CB8AC3E}">
        <p14:creationId xmlns:p14="http://schemas.microsoft.com/office/powerpoint/2010/main" val="399104778"/>
      </p:ext>
    </p:extLst>
  </p:cSld>
</p:sld>
</file>

<file path=ppt/slides/slide1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F8D62C3-EC51-42D2-900A-02E7E0551285}"/>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UNIDAD 3 · PRÁCTICA DE POO</a:t>
            </a:r>
          </a:p>
        </p:txBody>
      </p:sp>
      <p:sp>
        <p:nvSpPr>
          <p:cNvPr id="2" name="">
            <a:extLst xmlns:a="http://schemas.openxmlformats.org/drawingml/2006/main">
              <a:ext uri="{FF2B5EF4-FFF2-40B4-BE49-F238E27FC236}">
                <a16:creationId xmlns:a16="http://schemas.microsoft.com/office/drawing/2014/main" id="{AF7F2B58-53AA-4E6C-8428-27B1015B9306}"/>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Paso 5: registrar un préstamo</a:t>
            </a:r>
          </a:p>
        </p:txBody>
      </p:sp>
      <p:sp>
        <p:nvSpPr>
          <p:cNvPr id="3" name="">
            <a:extLst xmlns:a="http://schemas.openxmlformats.org/drawingml/2006/main">
              <a:ext uri="{FF2B5EF4-FFF2-40B4-BE49-F238E27FC236}">
                <a16:creationId xmlns:a16="http://schemas.microsoft.com/office/drawing/2014/main" id="{3EE09B40-32A1-47C0-A6CC-1258CC378F4C}"/>
              </a:ext>
            </a:extLst>
          </p:cNvPr>
          <p:cNvSpPr>
            <a:spLocks xmlns:a="http://schemas.openxmlformats.org/drawingml/2006/main" noGrp="1"/>
          </p:cNvSpPr>
          <p:nvPr/>
        </p:nvSpPr>
        <p:spPr>
          <a:xfrm xmlns:a="http://schemas.openxmlformats.org/drawingml/2006/main">
            <a:off x="762000" y="2571750"/>
            <a:ext cx="99060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5C67"/>
                </a:solidFill>
                <a:latin typeface="DejaVu Sans Mono"/>
                <a:ea typeface="DejaVu Sans Mono"/>
                <a:cs typeface="DejaVu Sans Mono"/>
              </a:defRPr>
            </a:defPPr>
          </a:lstStyle>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if (l2.disponible) {</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    l2.disponible = false;</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    s1.librosPrestados = s1.librosPrestados + 1;</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 else {</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    System.out.println("Libro no disponible");</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a:t>
            </a:r>
          </a:p>
        </p:txBody>
      </p:sp>
      <p:sp>
        <p:nvSpPr>
          <p:cNvPr id="4" name="">
            <a:extLst xmlns:a="http://schemas.openxmlformats.org/drawingml/2006/main">
              <a:ext uri="{FF2B5EF4-FFF2-40B4-BE49-F238E27FC236}">
                <a16:creationId xmlns:a16="http://schemas.microsoft.com/office/drawing/2014/main" id="{EF39540A-4A49-4A4E-84CE-D41598C6AE59}"/>
              </a:ext>
            </a:extLst>
          </p:cNvPr>
          <p:cNvSpPr>
            <a:spLocks xmlns:a="http://schemas.openxmlformats.org/drawingml/2006/main" noGrp="1"/>
          </p:cNvSpPr>
          <p:nvPr/>
        </p:nvSpPr>
        <p:spPr>
          <a:xfrm xmlns:a="http://schemas.openxmlformats.org/drawingml/2006/main">
            <a:off x="11049000" y="2571750"/>
            <a:ext cx="3333750" cy="457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43"/>
                </a:solidFill>
                <a:latin typeface="DejaVu Sans"/>
                <a:ea typeface="DejaVu Sans"/>
                <a:cs typeface="DejaVu Sans"/>
              </a:defRPr>
            </a:defPPr>
          </a:lstStyle>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Ana toma prestado el segundo libro.</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Un préstamo actualiza dos objetos.</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El if evita repetir el préstamo de un libro ocupado.</a:t>
            </a:r>
          </a:p>
        </p:txBody>
      </p:sp>
      <p:sp>
        <p:nvSpPr>
          <p:cNvPr id="5" name="">
            <a:extLst xmlns:a="http://schemas.openxmlformats.org/drawingml/2006/main">
              <a:ext uri="{FF2B5EF4-FFF2-40B4-BE49-F238E27FC236}">
                <a16:creationId xmlns:a16="http://schemas.microsoft.com/office/drawing/2014/main" id="{7B5E2691-DF4E-4B86-AE29-40DD0921C936}"/>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17     41–45 min</a:t>
            </a:r>
          </a:p>
        </p:txBody>
      </p:sp>
    </p:spTree>
    <p:extLst>
      <p:ext uri="{BB962C8B-B14F-4D97-AF65-F5344CB8AC3E}">
        <p14:creationId xmlns:p14="http://schemas.microsoft.com/office/powerpoint/2010/main" val="1032412861"/>
      </p:ext>
    </p:extLst>
  </p:cSld>
</p:sld>
</file>

<file path=ppt/slides/slide1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BBF4985-EBC4-41B7-95C8-55F282DB4E3D}"/>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UNIDAD 3 · PRÁCTICA DE POO</a:t>
            </a:r>
          </a:p>
        </p:txBody>
      </p:sp>
      <p:sp>
        <p:nvSpPr>
          <p:cNvPr id="2" name="">
            <a:extLst xmlns:a="http://schemas.openxmlformats.org/drawingml/2006/main">
              <a:ext uri="{FF2B5EF4-FFF2-40B4-BE49-F238E27FC236}">
                <a16:creationId xmlns:a16="http://schemas.microsoft.com/office/drawing/2014/main" id="{8854F89D-04B0-48CB-8B85-FD3499B708D6}"/>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Paso 6: mostrar el estado final</a:t>
            </a:r>
          </a:p>
        </p:txBody>
      </p:sp>
      <p:sp>
        <p:nvSpPr>
          <p:cNvPr id="3" name="">
            <a:extLst xmlns:a="http://schemas.openxmlformats.org/drawingml/2006/main">
              <a:ext uri="{FF2B5EF4-FFF2-40B4-BE49-F238E27FC236}">
                <a16:creationId xmlns:a16="http://schemas.microsoft.com/office/drawing/2014/main" id="{1F7EAEA5-F71B-4B43-8EC4-E2D163FC759F}"/>
              </a:ext>
            </a:extLst>
          </p:cNvPr>
          <p:cNvSpPr>
            <a:spLocks xmlns:a="http://schemas.openxmlformats.org/drawingml/2006/main" noGrp="1"/>
          </p:cNvSpPr>
          <p:nvPr/>
        </p:nvSpPr>
        <p:spPr>
          <a:xfrm xmlns:a="http://schemas.openxmlformats.org/drawingml/2006/main">
            <a:off x="762000" y="2571750"/>
            <a:ext cx="99060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5C67"/>
                </a:solidFill>
                <a:latin typeface="DejaVu Sans Mono"/>
                <a:ea typeface="DejaVu Sans Mono"/>
                <a:cs typeface="DejaVu Sans Mono"/>
              </a:defRPr>
            </a:defPPr>
          </a:lstStyle>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System.out.println(l1.titulo + " : " + l1.disponible);</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System.out.println(l2.titulo + " : " + l2.disponible);</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System.out.println(l3.titulo + " : " + l3.disponible);</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System.out.println(s1.nombre + " : " + s1.librosPrestados);</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System.out.println(s2.nombre + " : " + s2.librosPrestados);</a:t>
            </a:r>
          </a:p>
        </p:txBody>
      </p:sp>
      <p:sp>
        <p:nvSpPr>
          <p:cNvPr id="4" name="">
            <a:extLst xmlns:a="http://schemas.openxmlformats.org/drawingml/2006/main">
              <a:ext uri="{FF2B5EF4-FFF2-40B4-BE49-F238E27FC236}">
                <a16:creationId xmlns:a16="http://schemas.microsoft.com/office/drawing/2014/main" id="{D7CC9D3F-BDD1-4BC2-B783-80789800A8B3}"/>
              </a:ext>
            </a:extLst>
          </p:cNvPr>
          <p:cNvSpPr>
            <a:spLocks xmlns:a="http://schemas.openxmlformats.org/drawingml/2006/main" noGrp="1"/>
          </p:cNvSpPr>
          <p:nvPr/>
        </p:nvSpPr>
        <p:spPr>
          <a:xfrm xmlns:a="http://schemas.openxmlformats.org/drawingml/2006/main">
            <a:off x="11049000" y="2571750"/>
            <a:ext cx="3333750" cy="457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43"/>
                </a:solidFill>
                <a:latin typeface="DejaVu Sans"/>
                <a:ea typeface="DejaVu Sans"/>
                <a:cs typeface="DejaVu Sans"/>
              </a:defRPr>
            </a:defPPr>
          </a:lstStyle>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Fragmento dentro de main, después del préstamo.</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Primero escriban la salida esperada en papel.</a:t>
            </a:r>
          </a:p>
        </p:txBody>
      </p:sp>
      <p:sp>
        <p:nvSpPr>
          <p:cNvPr id="5" name="">
            <a:extLst xmlns:a="http://schemas.openxmlformats.org/drawingml/2006/main">
              <a:ext uri="{FF2B5EF4-FFF2-40B4-BE49-F238E27FC236}">
                <a16:creationId xmlns:a16="http://schemas.microsoft.com/office/drawing/2014/main" id="{6C547A17-0DFD-481D-BF7E-58E89B6FACC1}"/>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18     45–50 min</a:t>
            </a:r>
          </a:p>
        </p:txBody>
      </p:sp>
    </p:spTree>
    <p:extLst>
      <p:ext uri="{BB962C8B-B14F-4D97-AF65-F5344CB8AC3E}">
        <p14:creationId xmlns:p14="http://schemas.microsoft.com/office/powerpoint/2010/main" val="1599252969"/>
      </p:ext>
    </p:extLst>
  </p:cSld>
</p:sld>
</file>

<file path=ppt/slides/slide19.xml><?xml version="1.0" encoding="utf-8"?>
<p:sld xmlns:p="http://schemas.openxmlformats.org/presentationml/2006/main">
  <p:cSld>
    <p:bg>
      <p:bgPr>
        <a:solidFill xmlns:a="http://schemas.openxmlformats.org/drawingml/2006/main">
          <a:srgbClr val="10293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F42B5E-FBDD-4596-936B-009106A12C6D}"/>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70E0CE"/>
                </a:solidFill>
                <a:latin typeface="DejaVu Sans"/>
                <a:ea typeface="DejaVu Sans"/>
                <a:cs typeface="DejaVu Sans"/>
              </a:defRPr>
            </a:defPPr>
          </a:lstStyle>
          <a:p xmlns:a="http://schemas.openxmlformats.org/drawingml/2006/main">
            <a:pPr>
              <a:defRPr sz="1650" b="1">
                <a:solidFill>
                  <a:srgbClr val="70E0CE"/>
                </a:solidFill>
                <a:latin typeface="DejaVu Sans"/>
                <a:ea typeface="DejaVu Sans"/>
                <a:cs typeface="DejaVu Sans"/>
              </a:defRPr>
            </a:pPr>
            <a:r>
              <a:rPr sz="1650" b="1">
                <a:solidFill>
                  <a:srgbClr val="70E0CE"/>
                </a:solidFill>
                <a:latin typeface="DejaVu Sans"/>
                <a:ea typeface="DejaVu Sans"/>
                <a:cs typeface="DejaVu Sans"/>
              </a:rPr>
              <a:t>COMPROBACIÓN</a:t>
            </a:r>
          </a:p>
        </p:txBody>
      </p:sp>
      <p:sp>
        <p:nvSpPr>
          <p:cNvPr id="2" name="">
            <a:extLst xmlns:a="http://schemas.openxmlformats.org/drawingml/2006/main">
              <a:ext uri="{FF2B5EF4-FFF2-40B4-BE49-F238E27FC236}">
                <a16:creationId xmlns:a16="http://schemas.microsoft.com/office/drawing/2014/main" id="{AE3105D0-F9CE-4D64-BE68-B9750087A99A}"/>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F7F6F1"/>
                </a:solidFill>
                <a:latin typeface="DejaVu Sans"/>
                <a:ea typeface="DejaVu Sans"/>
                <a:cs typeface="DejaVu Sans"/>
              </a:defRPr>
            </a:defPPr>
          </a:lstStyle>
          <a:p xmlns:a="http://schemas.openxmlformats.org/drawingml/2006/main">
            <a:pPr>
              <a:defRPr sz="3750" b="1">
                <a:solidFill>
                  <a:srgbClr val="F7F6F1"/>
                </a:solidFill>
                <a:latin typeface="DejaVu Sans"/>
                <a:ea typeface="DejaVu Sans"/>
                <a:cs typeface="DejaVu Sans"/>
              </a:defRPr>
            </a:pPr>
            <a:r>
              <a:rPr sz="3750" b="1">
                <a:solidFill>
                  <a:srgbClr val="F7F6F1"/>
                </a:solidFill>
                <a:latin typeface="DejaVu Sans"/>
                <a:ea typeface="DejaVu Sans"/>
                <a:cs typeface="DejaVu Sans"/>
              </a:rPr>
              <a:t>Comprobación del resultado</a:t>
            </a:r>
          </a:p>
        </p:txBody>
      </p:sp>
      <p:sp>
        <p:nvSpPr>
          <p:cNvPr id="3" name="">
            <a:extLst xmlns:a="http://schemas.openxmlformats.org/drawingml/2006/main">
              <a:ext uri="{FF2B5EF4-FFF2-40B4-BE49-F238E27FC236}">
                <a16:creationId xmlns:a16="http://schemas.microsoft.com/office/drawing/2014/main" id="{6FE4745C-5938-4C23-BBE2-3716D85775FF}"/>
              </a:ext>
            </a:extLst>
          </p:cNvPr>
          <p:cNvSpPr>
            <a:spLocks xmlns:a="http://schemas.openxmlformats.org/drawingml/2006/main" noGrp="1"/>
          </p:cNvSpPr>
          <p:nvPr/>
        </p:nvSpPr>
        <p:spPr>
          <a:xfrm xmlns:a="http://schemas.openxmlformats.org/drawingml/2006/main">
            <a:off x="762000" y="2476500"/>
            <a:ext cx="13620750" cy="514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F7F6F1"/>
                </a:solidFill>
                <a:latin typeface="DejaVu Sans"/>
                <a:ea typeface="DejaVu Sans"/>
                <a:cs typeface="DejaVu Sans"/>
              </a:defRPr>
            </a:defPPr>
          </a:lstStyle>
          <a:p xmlns:a="http://schemas.openxmlformats.org/drawingml/2006/main">
            <a:pPr>
              <a:defRPr sz="2550" b="0">
                <a:solidFill>
                  <a:srgbClr val="F7F6F1"/>
                </a:solidFill>
                <a:latin typeface="DejaVu Sans"/>
                <a:ea typeface="DejaVu Sans"/>
                <a:cs typeface="DejaVu Sans"/>
              </a:defRPr>
            </a:pPr>
            <a:r>
              <a:rPr sz="2550" b="0">
                <a:solidFill>
                  <a:srgbClr val="F7F6F1"/>
                </a:solidFill>
                <a:latin typeface="DejaVu Sans"/>
                <a:ea typeface="DejaVu Sans"/>
                <a:cs typeface="DejaVu Sans"/>
              </a:rPr>
              <a:t>El principito: disponible.</a:t>
            </a:r>
          </a:p>
          <a:p xmlns:a="http://schemas.openxmlformats.org/drawingml/2006/main">
            <a:r>
              <a:t/>
            </a:r>
          </a:p>
          <a:p xmlns:a="http://schemas.openxmlformats.org/drawingml/2006/main">
            <a:pPr>
              <a:defRPr sz="2550" b="0">
                <a:solidFill>
                  <a:srgbClr val="F7F6F1"/>
                </a:solidFill>
                <a:latin typeface="DejaVu Sans"/>
                <a:ea typeface="DejaVu Sans"/>
                <a:cs typeface="DejaVu Sans"/>
              </a:defRPr>
            </a:pPr>
            <a:r>
              <a:rPr sz="2550" b="0">
                <a:solidFill>
                  <a:srgbClr val="F7F6F1"/>
                </a:solidFill>
                <a:latin typeface="DejaVu Sans"/>
                <a:ea typeface="DejaVu Sans"/>
                <a:cs typeface="DejaVu Sans"/>
              </a:rPr>
              <a:t>Don Quijote: prestado.</a:t>
            </a:r>
          </a:p>
          <a:p xmlns:a="http://schemas.openxmlformats.org/drawingml/2006/main">
            <a:r>
              <a:t/>
            </a:r>
          </a:p>
          <a:p xmlns:a="http://schemas.openxmlformats.org/drawingml/2006/main">
            <a:pPr>
              <a:defRPr sz="2550" b="0">
                <a:solidFill>
                  <a:srgbClr val="F7F6F1"/>
                </a:solidFill>
                <a:latin typeface="DejaVu Sans"/>
                <a:ea typeface="DejaVu Sans"/>
                <a:cs typeface="DejaVu Sans"/>
              </a:defRPr>
            </a:pPr>
            <a:r>
              <a:rPr sz="2550" b="0">
                <a:solidFill>
                  <a:srgbClr val="F7F6F1"/>
                </a:solidFill>
                <a:latin typeface="DejaVu Sans"/>
                <a:ea typeface="DejaVu Sans"/>
                <a:cs typeface="DejaVu Sans"/>
              </a:rPr>
              <a:t>La Odisea: disponible.</a:t>
            </a:r>
          </a:p>
          <a:p xmlns:a="http://schemas.openxmlformats.org/drawingml/2006/main">
            <a:r>
              <a:t/>
            </a:r>
          </a:p>
          <a:p xmlns:a="http://schemas.openxmlformats.org/drawingml/2006/main">
            <a:pPr>
              <a:defRPr sz="2550" b="0">
                <a:solidFill>
                  <a:srgbClr val="F7F6F1"/>
                </a:solidFill>
                <a:latin typeface="DejaVu Sans"/>
                <a:ea typeface="DejaVu Sans"/>
                <a:cs typeface="DejaVu Sans"/>
              </a:defRPr>
            </a:pPr>
            <a:r>
              <a:rPr sz="2550" b="0">
                <a:solidFill>
                  <a:srgbClr val="F7F6F1"/>
                </a:solidFill>
                <a:latin typeface="DejaVu Sans"/>
                <a:ea typeface="DejaVu Sans"/>
                <a:cs typeface="DejaVu Sans"/>
              </a:rPr>
              <a:t>Ana: 1 libro prestado. Luis: 0.</a:t>
            </a:r>
          </a:p>
          <a:p xmlns:a="http://schemas.openxmlformats.org/drawingml/2006/main">
            <a:r>
              <a:t/>
            </a:r>
          </a:p>
          <a:p xmlns:a="http://schemas.openxmlformats.org/drawingml/2006/main">
            <a:pPr>
              <a:defRPr sz="2550" b="0">
                <a:solidFill>
                  <a:srgbClr val="F7F6F1"/>
                </a:solidFill>
                <a:latin typeface="DejaVu Sans"/>
                <a:ea typeface="DejaVu Sans"/>
                <a:cs typeface="DejaVu Sans"/>
              </a:defRPr>
            </a:pPr>
            <a:r>
              <a:rPr sz="2550" b="0">
                <a:solidFill>
                  <a:srgbClr val="F7F6F1"/>
                </a:solidFill>
                <a:latin typeface="DejaVu Sans"/>
                <a:ea typeface="DejaVu Sans"/>
                <a:cs typeface="DejaVu Sans"/>
              </a:rPr>
              <a:t>Total: 2 libros disponibles y 1 prestado.</a:t>
            </a:r>
          </a:p>
        </p:txBody>
      </p:sp>
      <p:sp>
        <p:nvSpPr>
          <p:cNvPr id="4" name="">
            <a:extLst xmlns:a="http://schemas.openxmlformats.org/drawingml/2006/main">
              <a:ext uri="{FF2B5EF4-FFF2-40B4-BE49-F238E27FC236}">
                <a16:creationId xmlns:a16="http://schemas.microsoft.com/office/drawing/2014/main" id="{77CC8408-E964-401D-86DD-14C3F2E68A62}"/>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ADBBC5"/>
                </a:solidFill>
                <a:latin typeface="DejaVu Sans"/>
                <a:ea typeface="DejaVu Sans"/>
                <a:cs typeface="DejaVu Sans"/>
              </a:defRPr>
            </a:defPPr>
          </a:lstStyle>
          <a:p xmlns:a="http://schemas.openxmlformats.org/drawingml/2006/main">
            <a:pPr>
              <a:defRPr sz="1500" b="0">
                <a:solidFill>
                  <a:srgbClr val="ADBBC5"/>
                </a:solidFill>
                <a:latin typeface="DejaVu Sans"/>
                <a:ea typeface="DejaVu Sans"/>
                <a:cs typeface="DejaVu Sans"/>
              </a:defRPr>
            </a:pPr>
            <a:r>
              <a:rPr sz="1500" b="0">
                <a:solidFill>
                  <a:srgbClr val="ADBBC5"/>
                </a:solidFill>
                <a:latin typeface="DejaVu Sans"/>
                <a:ea typeface="DejaVu Sans"/>
                <a:cs typeface="DejaVu Sans"/>
              </a:rPr>
              <a:t>19     50–52 min</a:t>
            </a:r>
          </a:p>
        </p:txBody>
      </p:sp>
    </p:spTree>
    <p:extLst>
      <p:ext uri="{BB962C8B-B14F-4D97-AF65-F5344CB8AC3E}">
        <p14:creationId xmlns:p14="http://schemas.microsoft.com/office/powerpoint/2010/main" val="174718161"/>
      </p:ext>
    </p:extLst>
  </p:cSld>
</p:sld>
</file>

<file path=ppt/slides/slide2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F0B688-4CBC-4EAE-8243-F1373FD69F7C}"/>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UNIDAD 3 · PRÁCTICA DE POO</a:t>
            </a:r>
          </a:p>
        </p:txBody>
      </p:sp>
      <p:sp>
        <p:nvSpPr>
          <p:cNvPr id="2" name="">
            <a:extLst xmlns:a="http://schemas.openxmlformats.org/drawingml/2006/main">
              <a:ext uri="{FF2B5EF4-FFF2-40B4-BE49-F238E27FC236}">
                <a16:creationId xmlns:a16="http://schemas.microsoft.com/office/drawing/2014/main" id="{57E4BF11-AA59-457A-93D3-0A709E364A7F}"/>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Presentación de las parejas</a:t>
            </a:r>
          </a:p>
        </p:txBody>
      </p:sp>
      <p:sp>
        <p:nvSpPr>
          <p:cNvPr id="3" name="">
            <a:extLst xmlns:a="http://schemas.openxmlformats.org/drawingml/2006/main">
              <a:ext uri="{FF2B5EF4-FFF2-40B4-BE49-F238E27FC236}">
                <a16:creationId xmlns:a16="http://schemas.microsoft.com/office/drawing/2014/main" id="{44A54E84-6412-404F-B629-0546EC45DCD7}"/>
              </a:ext>
            </a:extLst>
          </p:cNvPr>
          <p:cNvSpPr>
            <a:spLocks xmlns:a="http://schemas.openxmlformats.org/drawingml/2006/main" noGrp="1"/>
          </p:cNvSpPr>
          <p:nvPr/>
        </p:nvSpPr>
        <p:spPr>
          <a:xfrm xmlns:a="http://schemas.openxmlformats.org/drawingml/2006/main">
            <a:off x="762000" y="2476500"/>
            <a:ext cx="13620750" cy="514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142C43"/>
                </a:solidFill>
                <a:latin typeface="DejaVu Sans"/>
                <a:ea typeface="DejaVu Sans"/>
                <a:cs typeface="DejaVu Sans"/>
              </a:defRPr>
            </a:defPPr>
          </a:lstStyle>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Una pareja explica las clases y sus atributos.</a:t>
            </a:r>
          </a:p>
          <a:p xmlns:a="http://schemas.openxmlformats.org/drawingml/2006/main">
            <a:r>
              <a:t/>
            </a:r>
          </a:p>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Otra muestra los cinco objetos creados.</a:t>
            </a:r>
          </a:p>
          <a:p xmlns:a="http://schemas.openxmlformats.org/drawingml/2006/main">
            <a:r>
              <a:t/>
            </a:r>
          </a:p>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Una tercera explica el préstamo y su salida.</a:t>
            </a:r>
          </a:p>
          <a:p xmlns:a="http://schemas.openxmlformats.org/drawingml/2006/main">
            <a:r>
              <a:t/>
            </a:r>
          </a:p>
          <a:p xmlns:a="http://schemas.openxmlformats.org/drawingml/2006/main">
            <a:pPr>
              <a:defRPr sz="2550" b="0">
                <a:solidFill>
                  <a:srgbClr val="142C43"/>
                </a:solidFill>
                <a:latin typeface="DejaVu Sans"/>
                <a:ea typeface="DejaVu Sans"/>
                <a:cs typeface="DejaVu Sans"/>
              </a:defRPr>
            </a:pPr>
            <a:r>
              <a:rPr sz="2550" b="0">
                <a:solidFill>
                  <a:srgbClr val="142C43"/>
                </a:solidFill>
                <a:latin typeface="DejaVu Sans"/>
                <a:ea typeface="DejaVu Sans"/>
                <a:cs typeface="DejaVu Sans"/>
              </a:rPr>
              <a:t>Pregunta común: ¿qué cambia con Socio s3 = s1;?</a:t>
            </a:r>
          </a:p>
        </p:txBody>
      </p:sp>
      <p:sp>
        <p:nvSpPr>
          <p:cNvPr id="4" name="">
            <a:extLst xmlns:a="http://schemas.openxmlformats.org/drawingml/2006/main">
              <a:ext uri="{FF2B5EF4-FFF2-40B4-BE49-F238E27FC236}">
                <a16:creationId xmlns:a16="http://schemas.microsoft.com/office/drawing/2014/main" id="{AE953E99-C8B4-4A4B-AEBD-616F41B95162}"/>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20     52–56 min</a:t>
            </a:r>
          </a:p>
        </p:txBody>
      </p:sp>
    </p:spTree>
    <p:extLst>
      <p:ext uri="{BB962C8B-B14F-4D97-AF65-F5344CB8AC3E}">
        <p14:creationId xmlns:p14="http://schemas.microsoft.com/office/powerpoint/2010/main" val="28748457"/>
      </p:ext>
    </p:extLst>
  </p:cSld>
</p:sld>
</file>

<file path=ppt/slides/slide2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1F6E16-F5E0-419C-BFAD-638A17D7D91E}"/>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F78"/>
                </a:solidFill>
                <a:latin typeface="DejaVu Sans"/>
                <a:ea typeface="DejaVu Sans"/>
                <a:cs typeface="DejaVu Sans"/>
              </a:defRPr>
            </a:defPPr>
          </a:lstStyle>
          <a:p xmlns:a="http://schemas.openxmlformats.org/drawingml/2006/main">
            <a:pPr>
              <a:defRPr sz="1650" b="1">
                <a:solidFill>
                  <a:srgbClr val="087F78"/>
                </a:solidFill>
                <a:latin typeface="DejaVu Sans"/>
                <a:ea typeface="DejaVu Sans"/>
                <a:cs typeface="DejaVu Sans"/>
              </a:defRPr>
            </a:pPr>
            <a:r>
              <a:rPr sz="1650" b="1">
                <a:solidFill>
                  <a:srgbClr val="087F78"/>
                </a:solidFill>
                <a:latin typeface="DejaVu Sans"/>
                <a:ea typeface="DejaVu Sans"/>
                <a:cs typeface="DejaVu Sans"/>
              </a:rPr>
              <a:t>UNIDAD 3 · PRÁCTICA DE POO</a:t>
            </a:r>
          </a:p>
        </p:txBody>
      </p:sp>
      <p:sp>
        <p:nvSpPr>
          <p:cNvPr id="2" name="">
            <a:extLst xmlns:a="http://schemas.openxmlformats.org/drawingml/2006/main">
              <a:ext uri="{FF2B5EF4-FFF2-40B4-BE49-F238E27FC236}">
                <a16:creationId xmlns:a16="http://schemas.microsoft.com/office/drawing/2014/main" id="{E53EBD89-8B4E-489B-973E-BD7E2E7CB514}"/>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42C43"/>
                </a:solidFill>
                <a:latin typeface="DejaVu Sans"/>
                <a:ea typeface="DejaVu Sans"/>
                <a:cs typeface="DejaVu Sans"/>
              </a:defRPr>
            </a:defPPr>
          </a:lstStyle>
          <a:p xmlns:a="http://schemas.openxmlformats.org/drawingml/2006/main">
            <a:pPr>
              <a:defRPr sz="3750" b="1">
                <a:solidFill>
                  <a:srgbClr val="142C43"/>
                </a:solidFill>
                <a:latin typeface="DejaVu Sans"/>
                <a:ea typeface="DejaVu Sans"/>
                <a:cs typeface="DejaVu Sans"/>
              </a:defRPr>
            </a:pPr>
            <a:r>
              <a:rPr sz="3750" b="1">
                <a:solidFill>
                  <a:srgbClr val="142C43"/>
                </a:solidFill>
                <a:latin typeface="DejaVu Sans"/>
                <a:ea typeface="DejaVu Sans"/>
                <a:cs typeface="DejaVu Sans"/>
              </a:rPr>
              <a:t>Cambio en vivo y errores frecuentes</a:t>
            </a:r>
          </a:p>
        </p:txBody>
      </p:sp>
      <p:sp>
        <p:nvSpPr>
          <p:cNvPr id="3" name="">
            <a:extLst xmlns:a="http://schemas.openxmlformats.org/drawingml/2006/main">
              <a:ext uri="{FF2B5EF4-FFF2-40B4-BE49-F238E27FC236}">
                <a16:creationId xmlns:a16="http://schemas.microsoft.com/office/drawing/2014/main" id="{68AC9640-D0EB-49DA-98E4-6C2CC6C4271B}"/>
              </a:ext>
            </a:extLst>
          </p:cNvPr>
          <p:cNvSpPr>
            <a:spLocks xmlns:a="http://schemas.openxmlformats.org/drawingml/2006/main" noGrp="1"/>
          </p:cNvSpPr>
          <p:nvPr/>
        </p:nvSpPr>
        <p:spPr>
          <a:xfrm xmlns:a="http://schemas.openxmlformats.org/drawingml/2006/main">
            <a:off x="762000" y="2571750"/>
            <a:ext cx="99060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5C67"/>
                </a:solidFill>
                <a:latin typeface="DejaVu Sans Mono"/>
                <a:ea typeface="DejaVu Sans Mono"/>
                <a:cs typeface="DejaVu Sans Mono"/>
              </a:defRPr>
            </a:defPPr>
          </a:lstStyle>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l1.disponible = false;</a:t>
            </a:r>
          </a:p>
          <a:p xmlns:a="http://schemas.openxmlformats.org/drawingml/2006/main">
            <a:pPr>
              <a:defRPr sz="2250" b="0">
                <a:solidFill>
                  <a:srgbClr val="145C67"/>
                </a:solidFill>
                <a:latin typeface="DejaVu Sans Mono"/>
                <a:ea typeface="DejaVu Sans Mono"/>
                <a:cs typeface="DejaVu Sans Mono"/>
              </a:defRPr>
            </a:pPr>
            <a:r>
              <a:rPr sz="2250" b="0">
                <a:solidFill>
                  <a:srgbClr val="145C67"/>
                </a:solidFill>
                <a:latin typeface="DejaVu Sans Mono"/>
                <a:ea typeface="DejaVu Sans Mono"/>
                <a:cs typeface="DejaVu Sans Mono"/>
              </a:rPr>
              <a:t>s2.librosPrestados = s2.librosPrestados + 1;</a:t>
            </a:r>
          </a:p>
        </p:txBody>
      </p:sp>
      <p:sp>
        <p:nvSpPr>
          <p:cNvPr id="4" name="">
            <a:extLst xmlns:a="http://schemas.openxmlformats.org/drawingml/2006/main">
              <a:ext uri="{FF2B5EF4-FFF2-40B4-BE49-F238E27FC236}">
                <a16:creationId xmlns:a16="http://schemas.microsoft.com/office/drawing/2014/main" id="{4659B88F-986F-4609-8114-6E7527D47864}"/>
              </a:ext>
            </a:extLst>
          </p:cNvPr>
          <p:cNvSpPr>
            <a:spLocks xmlns:a="http://schemas.openxmlformats.org/drawingml/2006/main" noGrp="1"/>
          </p:cNvSpPr>
          <p:nvPr/>
        </p:nvSpPr>
        <p:spPr>
          <a:xfrm xmlns:a="http://schemas.openxmlformats.org/drawingml/2006/main">
            <a:off x="11049000" y="2571750"/>
            <a:ext cx="3333750" cy="457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42C43"/>
                </a:solidFill>
                <a:latin typeface="DejaVu Sans"/>
                <a:ea typeface="DejaVu Sans"/>
                <a:cs typeface="DejaVu Sans"/>
              </a:defRPr>
            </a:defPPr>
          </a:lstStyle>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Cambio: Luis toma prestado el primer libro.</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Resultado esperado: Luis queda con 1 libro.</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l1.disponible cambia a false.</a:t>
            </a:r>
          </a:p>
          <a:p xmlns:a="http://schemas.openxmlformats.org/drawingml/2006/main">
            <a:r>
              <a:t/>
            </a:r>
          </a:p>
          <a:p xmlns:a="http://schemas.openxmlformats.org/drawingml/2006/main">
            <a:pPr>
              <a:defRPr sz="2250" b="0">
                <a:solidFill>
                  <a:srgbClr val="142C43"/>
                </a:solidFill>
                <a:latin typeface="DejaVu Sans"/>
                <a:ea typeface="DejaVu Sans"/>
                <a:cs typeface="DejaVu Sans"/>
              </a:defRPr>
            </a:pPr>
            <a:r>
              <a:rPr sz="2250" b="0">
                <a:solidFill>
                  <a:srgbClr val="142C43"/>
                </a:solidFill>
                <a:latin typeface="DejaVu Sans"/>
                <a:ea typeface="DejaVu Sans"/>
                <a:cs typeface="DejaVu Sans"/>
              </a:rPr>
              <a:t>Si falla: revisar new, nombres, tipos y llaves.</a:t>
            </a:r>
          </a:p>
        </p:txBody>
      </p:sp>
      <p:sp>
        <p:nvSpPr>
          <p:cNvPr id="5" name="">
            <a:extLst xmlns:a="http://schemas.openxmlformats.org/drawingml/2006/main">
              <a:ext uri="{FF2B5EF4-FFF2-40B4-BE49-F238E27FC236}">
                <a16:creationId xmlns:a16="http://schemas.microsoft.com/office/drawing/2014/main" id="{52F1244D-90C8-48AB-A0C3-5EE0FE217CA4}"/>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575"/>
                </a:solidFill>
                <a:latin typeface="DejaVu Sans"/>
                <a:ea typeface="DejaVu Sans"/>
                <a:cs typeface="DejaVu Sans"/>
              </a:defRPr>
            </a:defPPr>
          </a:lstStyle>
          <a:p xmlns:a="http://schemas.openxmlformats.org/drawingml/2006/main">
            <a:pPr>
              <a:defRPr sz="1500" b="0">
                <a:solidFill>
                  <a:srgbClr val="526575"/>
                </a:solidFill>
                <a:latin typeface="DejaVu Sans"/>
                <a:ea typeface="DejaVu Sans"/>
                <a:cs typeface="DejaVu Sans"/>
              </a:defRPr>
            </a:pPr>
            <a:r>
              <a:rPr sz="1500" b="0">
                <a:solidFill>
                  <a:srgbClr val="526575"/>
                </a:solidFill>
                <a:latin typeface="DejaVu Sans"/>
                <a:ea typeface="DejaVu Sans"/>
                <a:cs typeface="DejaVu Sans"/>
              </a:rPr>
              <a:t>21     56–58 min</a:t>
            </a:r>
          </a:p>
        </p:txBody>
      </p:sp>
    </p:spTree>
    <p:extLst>
      <p:ext uri="{BB962C8B-B14F-4D97-AF65-F5344CB8AC3E}">
        <p14:creationId xmlns:p14="http://schemas.microsoft.com/office/powerpoint/2010/main" val="1694878940"/>
      </p:ext>
    </p:extLst>
  </p:cSld>
</p:sld>
</file>

<file path=ppt/slides/slide22.xml><?xml version="1.0" encoding="utf-8"?>
<p:sld xmlns:p="http://schemas.openxmlformats.org/presentationml/2006/main">
  <p:cSld>
    <p:bg>
      <p:bgPr>
        <a:solidFill xmlns:a="http://schemas.openxmlformats.org/drawingml/2006/main">
          <a:srgbClr val="10293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5FFE295-96D3-48C3-99BE-965B8C8E409C}"/>
              </a:ext>
            </a:extLst>
          </p:cNvPr>
          <p:cNvSpPr>
            <a:spLocks xmlns:a="http://schemas.openxmlformats.org/drawingml/2006/main" noGrp="1"/>
          </p:cNvSpPr>
          <p:nvPr/>
        </p:nvSpPr>
        <p:spPr>
          <a:xfrm xmlns:a="http://schemas.openxmlformats.org/drawingml/2006/main">
            <a:off x="762000" y="457200"/>
            <a:ext cx="1238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70E0CE"/>
                </a:solidFill>
                <a:latin typeface="DejaVu Sans"/>
                <a:ea typeface="DejaVu Sans"/>
                <a:cs typeface="DejaVu Sans"/>
              </a:defRPr>
            </a:defPPr>
          </a:lstStyle>
          <a:p xmlns:a="http://schemas.openxmlformats.org/drawingml/2006/main">
            <a:pPr>
              <a:defRPr sz="1650" b="1">
                <a:solidFill>
                  <a:srgbClr val="70E0CE"/>
                </a:solidFill>
                <a:latin typeface="DejaVu Sans"/>
                <a:ea typeface="DejaVu Sans"/>
                <a:cs typeface="DejaVu Sans"/>
              </a:defRPr>
            </a:pPr>
            <a:r>
              <a:rPr sz="1650" b="1">
                <a:solidFill>
                  <a:srgbClr val="70E0CE"/>
                </a:solidFill>
                <a:latin typeface="DejaVu Sans"/>
                <a:ea typeface="DejaVu Sans"/>
                <a:cs typeface="DejaVu Sans"/>
              </a:rPr>
              <a:t>CIERRE</a:t>
            </a:r>
          </a:p>
        </p:txBody>
      </p:sp>
      <p:sp>
        <p:nvSpPr>
          <p:cNvPr id="2" name="">
            <a:extLst xmlns:a="http://schemas.openxmlformats.org/drawingml/2006/main">
              <a:ext uri="{FF2B5EF4-FFF2-40B4-BE49-F238E27FC236}">
                <a16:creationId xmlns:a16="http://schemas.microsoft.com/office/drawing/2014/main" id="{37B8683D-1028-48B6-817D-932A7280D907}"/>
              </a:ext>
            </a:extLst>
          </p:cNvPr>
          <p:cNvSpPr>
            <a:spLocks xmlns:a="http://schemas.openxmlformats.org/drawingml/2006/main" noGrp="1"/>
          </p:cNvSpPr>
          <p:nvPr/>
        </p:nvSpPr>
        <p:spPr>
          <a:xfrm xmlns:a="http://schemas.openxmlformats.org/drawingml/2006/main">
            <a:off x="762000" y="1095375"/>
            <a:ext cx="1371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F7F6F1"/>
                </a:solidFill>
                <a:latin typeface="DejaVu Sans"/>
                <a:ea typeface="DejaVu Sans"/>
                <a:cs typeface="DejaVu Sans"/>
              </a:defRPr>
            </a:defPPr>
          </a:lstStyle>
          <a:p xmlns:a="http://schemas.openxmlformats.org/drawingml/2006/main">
            <a:pPr>
              <a:defRPr sz="3750" b="1">
                <a:solidFill>
                  <a:srgbClr val="F7F6F1"/>
                </a:solidFill>
                <a:latin typeface="DejaVu Sans"/>
                <a:ea typeface="DejaVu Sans"/>
                <a:cs typeface="DejaVu Sans"/>
              </a:defRPr>
            </a:pPr>
            <a:r>
              <a:rPr sz="3750" b="1">
                <a:solidFill>
                  <a:srgbClr val="F7F6F1"/>
                </a:solidFill>
                <a:latin typeface="DejaVu Sans"/>
                <a:ea typeface="DejaVu Sans"/>
                <a:cs typeface="DejaVu Sans"/>
              </a:rPr>
              <a:t>Lo que debes poder explicar</a:t>
            </a:r>
          </a:p>
        </p:txBody>
      </p:sp>
      <p:sp>
        <p:nvSpPr>
          <p:cNvPr id="3" name="">
            <a:extLst xmlns:a="http://schemas.openxmlformats.org/drawingml/2006/main">
              <a:ext uri="{FF2B5EF4-FFF2-40B4-BE49-F238E27FC236}">
                <a16:creationId xmlns:a16="http://schemas.microsoft.com/office/drawing/2014/main" id="{81D31F3B-8D34-4D63-98CB-E6D4126BE6C4}"/>
              </a:ext>
            </a:extLst>
          </p:cNvPr>
          <p:cNvSpPr>
            <a:spLocks xmlns:a="http://schemas.openxmlformats.org/drawingml/2006/main" noGrp="1"/>
          </p:cNvSpPr>
          <p:nvPr/>
        </p:nvSpPr>
        <p:spPr>
          <a:xfrm xmlns:a="http://schemas.openxmlformats.org/drawingml/2006/main">
            <a:off x="762000" y="2476500"/>
            <a:ext cx="13620750" cy="514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F7F6F1"/>
                </a:solidFill>
                <a:latin typeface="DejaVu Sans"/>
                <a:ea typeface="DejaVu Sans"/>
                <a:cs typeface="DejaVu Sans"/>
              </a:defRPr>
            </a:defPPr>
          </a:lstStyle>
          <a:p xmlns:a="http://schemas.openxmlformats.org/drawingml/2006/main">
            <a:pPr>
              <a:defRPr sz="2550" b="0">
                <a:solidFill>
                  <a:srgbClr val="F7F6F1"/>
                </a:solidFill>
                <a:latin typeface="DejaVu Sans"/>
                <a:ea typeface="DejaVu Sans"/>
                <a:cs typeface="DejaVu Sans"/>
              </a:defRPr>
            </a:pPr>
            <a:r>
              <a:rPr sz="2550" b="0">
                <a:solidFill>
                  <a:srgbClr val="F7F6F1"/>
                </a:solidFill>
                <a:latin typeface="DejaVu Sans"/>
                <a:ea typeface="DejaVu Sans"/>
                <a:cs typeface="DejaVu Sans"/>
              </a:rPr>
              <a:t>¿Qué diferencia hay entre una clase y una instancia?</a:t>
            </a:r>
          </a:p>
          <a:p xmlns:a="http://schemas.openxmlformats.org/drawingml/2006/main">
            <a:r>
              <a:t/>
            </a:r>
          </a:p>
          <a:p xmlns:a="http://schemas.openxmlformats.org/drawingml/2006/main">
            <a:pPr>
              <a:defRPr sz="2550" b="0">
                <a:solidFill>
                  <a:srgbClr val="F7F6F1"/>
                </a:solidFill>
                <a:latin typeface="DejaVu Sans"/>
                <a:ea typeface="DejaVu Sans"/>
                <a:cs typeface="DejaVu Sans"/>
              </a:defRPr>
            </a:pPr>
            <a:r>
              <a:rPr sz="2550" b="0">
                <a:solidFill>
                  <a:srgbClr val="F7F6F1"/>
                </a:solidFill>
                <a:latin typeface="DejaVu Sans"/>
                <a:ea typeface="DejaVu Sans"/>
                <a:cs typeface="DejaVu Sans"/>
              </a:rPr>
              <a:t>¿Qué hace new y qué hace una asignación de referencia?</a:t>
            </a:r>
          </a:p>
          <a:p xmlns:a="http://schemas.openxmlformats.org/drawingml/2006/main">
            <a:r>
              <a:t/>
            </a:r>
          </a:p>
          <a:p xmlns:a="http://schemas.openxmlformats.org/drawingml/2006/main">
            <a:pPr>
              <a:defRPr sz="2550" b="0">
                <a:solidFill>
                  <a:srgbClr val="F7F6F1"/>
                </a:solidFill>
                <a:latin typeface="DejaVu Sans"/>
                <a:ea typeface="DejaVu Sans"/>
                <a:cs typeface="DejaVu Sans"/>
              </a:defRPr>
            </a:pPr>
            <a:r>
              <a:rPr sz="2550" b="0">
                <a:solidFill>
                  <a:srgbClr val="F7F6F1"/>
                </a:solidFill>
                <a:latin typeface="DejaVu Sans"/>
                <a:ea typeface="DejaVu Sans"/>
                <a:cs typeface="DejaVu Sans"/>
              </a:rPr>
              <a:t>¿Por qué modificar un objeto no siempre cambia a otro?</a:t>
            </a:r>
          </a:p>
          <a:p xmlns:a="http://schemas.openxmlformats.org/drawingml/2006/main">
            <a:r>
              <a:t/>
            </a:r>
          </a:p>
          <a:p xmlns:a="http://schemas.openxmlformats.org/drawingml/2006/main">
            <a:pPr>
              <a:defRPr sz="2550" b="0">
                <a:solidFill>
                  <a:srgbClr val="F7F6F1"/>
                </a:solidFill>
                <a:latin typeface="DejaVu Sans"/>
                <a:ea typeface="DejaVu Sans"/>
                <a:cs typeface="DejaVu Sans"/>
              </a:defRPr>
            </a:pPr>
            <a:r>
              <a:rPr sz="2550" b="0">
                <a:solidFill>
                  <a:srgbClr val="F7F6F1"/>
                </a:solidFill>
                <a:latin typeface="DejaVu Sans"/>
                <a:ea typeface="DejaVu Sans"/>
                <a:cs typeface="DejaVu Sans"/>
              </a:rPr>
              <a:t>¿Qué dos datos actualiza un préstamo?</a:t>
            </a:r>
          </a:p>
        </p:txBody>
      </p:sp>
      <p:sp>
        <p:nvSpPr>
          <p:cNvPr id="4" name="">
            <a:extLst xmlns:a="http://schemas.openxmlformats.org/drawingml/2006/main">
              <a:ext uri="{FF2B5EF4-FFF2-40B4-BE49-F238E27FC236}">
                <a16:creationId xmlns:a16="http://schemas.microsoft.com/office/drawing/2014/main" id="{FB92B537-27DD-42CF-A7F5-7EC992F94D42}"/>
              </a:ext>
            </a:extLst>
          </p:cNvPr>
          <p:cNvSpPr>
            <a:spLocks xmlns:a="http://schemas.openxmlformats.org/drawingml/2006/main" noGrp="1"/>
          </p:cNvSpPr>
          <p:nvPr/>
        </p:nvSpPr>
        <p:spPr>
          <a:xfrm xmlns:a="http://schemas.openxmlformats.org/drawingml/2006/main">
            <a:off x="762000" y="80010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ADBBC5"/>
                </a:solidFill>
                <a:latin typeface="DejaVu Sans"/>
                <a:ea typeface="DejaVu Sans"/>
                <a:cs typeface="DejaVu Sans"/>
              </a:defRPr>
            </a:defPPr>
          </a:lstStyle>
          <a:p xmlns:a="http://schemas.openxmlformats.org/drawingml/2006/main">
            <a:pPr>
              <a:defRPr sz="1500" b="0">
                <a:solidFill>
                  <a:srgbClr val="ADBBC5"/>
                </a:solidFill>
                <a:latin typeface="DejaVu Sans"/>
                <a:ea typeface="DejaVu Sans"/>
                <a:cs typeface="DejaVu Sans"/>
              </a:defRPr>
            </a:pPr>
            <a:r>
              <a:rPr sz="1500" b="0">
                <a:solidFill>
                  <a:srgbClr val="ADBBC5"/>
                </a:solidFill>
                <a:latin typeface="DejaVu Sans"/>
                <a:ea typeface="DejaVu Sans"/>
                <a:cs typeface="DejaVu Sans"/>
              </a:rPr>
              <a:t>22     58–60 min</a:t>
            </a:r>
          </a:p>
        </p:txBody>
      </p:sp>
    </p:spTree>
    <p:extLst>
      <p:ext uri="{BB962C8B-B14F-4D97-AF65-F5344CB8AC3E}">
        <p14:creationId xmlns:p14="http://schemas.microsoft.com/office/powerpoint/2010/main" val="4077022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2026-10-16T14:18:14.9490000Z</dcterms:created>
  <dcterms:modified xsi:type="dcterms:W3CDTF">2026-10-16T14:18:14.9490000Z</dcterms:modified>
</coreProperties>
</file>