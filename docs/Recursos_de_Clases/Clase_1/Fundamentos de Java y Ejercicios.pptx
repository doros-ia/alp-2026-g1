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</ns0:sldIdLst>
  <ns0:sldSz cx="12192000" cy="6858000" type="screen4x3"/>
  <ns0:notesSz cx="6858000" cy="9144000"/>
  <ns0:embeddedFontLst>
    <ns0:embeddedFont>
      <ns0:font typeface="Fira Code"/>
      <ns0:bold ns1:id="rIdFont21"/>
      <ns0:regular ns1:id="rIdFont22"/>
    </ns0:embeddedFont>
    <ns0:embeddedFont>
      <ns0:font typeface="Outfit"/>
      <ns0:bold ns1:id="rIdFont23"/>
      <ns0:regular ns1:id="rIdFont24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Font21" Type="http://schemas.openxmlformats.org/officeDocument/2006/relationships/font" Target="fonts/7fe19a15-ed75-4aa8-8f55-8245733f14e4.fntdata" /><ns0:Relationship Id="rIdFont22" Type="http://schemas.openxmlformats.org/officeDocument/2006/relationships/font" Target="fonts/4aae7402-bb08-4e7a-a8fa-105dc31ebee0.fntdata" /><ns0:Relationship Id="rIdFont23" Type="http://schemas.openxmlformats.org/officeDocument/2006/relationships/font" Target="fonts/f0a19d2c-d835-4f3f-a8e4-150a239021e0.fntdata" /><ns0:Relationship Id="rIdFont24" Type="http://schemas.openxmlformats.org/officeDocument/2006/relationships/font" Target="fonts/d3959f5d-ad64-4af0-9ee4-39fc0d65658c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0" y="4449067"/>
            <a:ext cx="762000" cy="38100"/>
          </a:xfrm>
          <a:prstGeom prst="rect">
            <a:avLst/>
          </a:prstGeom>
          <a:solidFill>
            <a:srgbClr val="E0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100" y="1856482"/>
            <a:ext cx="6858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14962" y="3075682"/>
            <a:ext cx="13620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FD1D1"/>
                </a:solidFill>
                <a:latin typeface="Outfit"/>
              </a:rPr>
              <a:t>SESIÓN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4177" y="3466207"/>
            <a:ext cx="9163645" cy="754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FFFFFF"/>
                </a:solidFill>
                <a:latin typeface="Outfit"/>
              </a:rPr>
              <a:t>Fundamentos de 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93218" y="4715767"/>
            <a:ext cx="6405562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F5E6E6"/>
                </a:solidFill>
                <a:latin typeface="Outfit"/>
              </a:rPr>
              <a:t>Teoría, estructuras de control y ejercicios prácticos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95625"/>
            <a:ext cx="2571750" cy="1695450"/>
          </a:xfrm>
          <a:prstGeom prst="roundRect">
            <a:avLst>
              <a:gd name="adj" fmla="val 89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3095625"/>
            <a:ext cx="2571750" cy="1695450"/>
          </a:xfrm>
          <a:prstGeom prst="roundRect">
            <a:avLst>
              <a:gd name="adj" fmla="val 89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3095625"/>
            <a:ext cx="2571750" cy="1695450"/>
          </a:xfrm>
          <a:prstGeom prst="roundRect">
            <a:avLst>
              <a:gd name="adj" fmla="val 89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3095625"/>
            <a:ext cx="2571750" cy="1695450"/>
          </a:xfrm>
          <a:prstGeom prst="roundRect">
            <a:avLst>
              <a:gd name="adj" fmla="val 89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-381000" y="2066925"/>
            <a:ext cx="129540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3A1C1C"/>
                </a:solidFill>
                <a:latin typeface="Outfit"/>
              </a:rPr>
              <a:t>Tipos de Datos Básicos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9131" y="3400425"/>
            <a:ext cx="2452687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E05D5D"/>
                </a:solidFill>
                <a:latin typeface="Fira Code"/>
              </a:rPr>
              <a:t>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9131" y="3952875"/>
            <a:ext cx="245268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3A1C1C"/>
                </a:solidFill>
                <a:latin typeface="Outfit"/>
              </a:rPr>
              <a:t>Números Enteros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9131" y="4267200"/>
            <a:ext cx="24526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A4A4A"/>
                </a:solidFill>
                <a:latin typeface="Outfit"/>
              </a:rPr>
              <a:t>Sin decimales. Ej: 19, -5.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69481" y="3400425"/>
            <a:ext cx="2452687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E05D5D"/>
                </a:solidFill>
                <a:latin typeface="Fira Code"/>
              </a:rPr>
              <a:t>double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9481" y="3952875"/>
            <a:ext cx="245268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3A1C1C"/>
                </a:solidFill>
                <a:latin typeface="Outfit"/>
              </a:rPr>
              <a:t>Números Decimales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9481" y="4267200"/>
            <a:ext cx="24526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A4A4A"/>
                </a:solidFill>
                <a:latin typeface="Outfit"/>
              </a:rPr>
              <a:t>Con precisión. Ej: 8.5.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9831" y="3400425"/>
            <a:ext cx="2452687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E05D5D"/>
                </a:solidFill>
                <a:latin typeface="Fira Code"/>
              </a:rPr>
              <a:t>boolean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9831" y="3952875"/>
            <a:ext cx="245268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3A1C1C"/>
                </a:solidFill>
                <a:latin typeface="Outfit"/>
              </a:rPr>
              <a:t>Verdadero / Falso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9831" y="4267200"/>
            <a:ext cx="24526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A4A4A"/>
                </a:solidFill>
                <a:latin typeface="Outfit"/>
              </a:rPr>
              <a:t>Valores lógicos.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0181" y="3400425"/>
            <a:ext cx="2452687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E05D5D"/>
                </a:solidFill>
                <a:latin typeface="Fira Code"/>
              </a:rPr>
              <a:t>String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181" y="3952875"/>
            <a:ext cx="245268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3A1C1C"/>
                </a:solidFill>
                <a:latin typeface="Outfit"/>
              </a:rPr>
              <a:t>Cadena de Texto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0181" y="4267200"/>
            <a:ext cx="24526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A4A4A"/>
                </a:solidFill>
                <a:latin typeface="Outfit"/>
              </a:rPr>
              <a:t>Entre comillas dobles.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0" y="2124075"/>
            <a:ext cx="5638800" cy="2609850"/>
          </a:xfrm>
          <a:prstGeom prst="roundRect">
            <a:avLst>
              <a:gd name="adj" fmla="val 5839"/>
            </a:avLst>
          </a:prstGeom>
          <a:solidFill>
            <a:srgbClr val="2D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124200"/>
            <a:ext cx="200025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619500"/>
            <a:ext cx="200025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324350"/>
            <a:ext cx="200025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48400" y="2428875"/>
            <a:ext cx="51244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FFD1D1"/>
                </a:solidFill>
                <a:latin typeface="Outfit"/>
              </a:rPr>
              <a:t>// Mi primer programa </a:t>
            </a:r>
            <a:r>
              <a:rPr b="0" sz="1500" i="0" u="none">
                <a:solidFill>
                  <a:srgbClr val="FF8FA3"/>
                </a:solidFill>
                <a:latin typeface="Outfit"/>
              </a:rPr>
              <a:t>public class</a:t>
            </a:r>
            <a:r>
              <a:rPr b="0" sz="1500" i="0" u="none">
                <a:solidFill>
                  <a:srgbClr val="FFD1D1"/>
                </a:solidFill>
                <a:latin typeface="Outfit"/>
              </a:rPr>
              <a:t> Saludo { </a:t>
            </a:r>
            <a:r>
              <a:rPr b="0" sz="1500" i="0" u="none">
                <a:solidFill>
                  <a:srgbClr val="FF8FA3"/>
                </a:solidFill>
                <a:latin typeface="Outfit"/>
              </a:rPr>
              <a:t>public static void</a:t>
            </a:r>
            <a:r>
              <a:rPr b="0" sz="1500" i="0" u="none">
                <a:solidFill>
                  <a:srgbClr val="FFD1D1"/>
                </a:solidFill>
                <a:latin typeface="Outfit"/>
              </a:rPr>
              <a:t> main(String[] args) { System.out.println("Hola"); } }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295525"/>
            <a:ext cx="64008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3A1C1C"/>
                </a:solidFill>
                <a:latin typeface="Outfit"/>
              </a:rPr>
              <a:t>Anatomía de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8400" y="2428875"/>
            <a:ext cx="51244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FFD1D1"/>
                </a:solidFill>
                <a:latin typeface="Fira Code"/>
              </a:rPr>
              <a:t>// Mi primer programa </a:t>
            </a:r>
            <a:r>
              <a:rPr b="0" sz="1500" i="0" u="none">
                <a:solidFill>
                  <a:srgbClr val="FF8FA3"/>
                </a:solidFill>
                <a:latin typeface="Fira Code"/>
              </a:rPr>
              <a:t>public class</a:t>
            </a:r>
            <a:r>
              <a:rPr b="0" sz="1500" i="0" u="none">
                <a:solidFill>
                  <a:srgbClr val="FFD1D1"/>
                </a:solidFill>
                <a:latin typeface="Fira Code"/>
              </a:rPr>
              <a:t> Saludo { </a:t>
            </a:r>
            <a:r>
              <a:rPr b="0" sz="1500" i="0" u="none">
                <a:solidFill>
                  <a:srgbClr val="FF8FA3"/>
                </a:solidFill>
                <a:latin typeface="Fira Code"/>
              </a:rPr>
              <a:t>public static void</a:t>
            </a:r>
            <a:r>
              <a:rPr b="0" sz="1500" i="0" u="none">
                <a:solidFill>
                  <a:srgbClr val="FFD1D1"/>
                </a:solidFill>
                <a:latin typeface="Fira Code"/>
              </a:rPr>
              <a:t> main(String[] args) { System.out.println("Hola"); }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3095625"/>
            <a:ext cx="544115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6A4A4A"/>
                </a:solidFill>
                <a:latin typeface="Outfit"/>
              </a:rPr>
              <a:t>Clase principal:</a:t>
            </a:r>
            <a:r>
              <a:rPr b="0" sz="1500" i="0" u="none">
                <a:solidFill>
                  <a:srgbClr val="6A4A4A"/>
                </a:solidFill>
                <a:latin typeface="Outfit"/>
              </a:rPr>
              <a:t> Debe llamarse igual que el archivo.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3590925"/>
            <a:ext cx="461962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6A4A4A"/>
                </a:solidFill>
                <a:latin typeface="Outfit"/>
              </a:rPr>
              <a:t>Método main:</a:t>
            </a:r>
            <a:r>
              <a:rPr b="0" sz="1500" i="0" u="none">
                <a:solidFill>
                  <a:srgbClr val="6A4A4A"/>
                </a:solidFill>
                <a:latin typeface="Outfit"/>
              </a:rPr>
              <a:t> El programa empieza a ejecutarse aquí.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4295775"/>
            <a:ext cx="46434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6A4A4A"/>
                </a:solidFill>
                <a:latin typeface="Outfit"/>
              </a:rPr>
              <a:t>Llaves { }:</a:t>
            </a:r>
            <a:r>
              <a:rPr b="0" sz="1500" i="0" u="none">
                <a:solidFill>
                  <a:srgbClr val="6A4A4A"/>
                </a:solidFill>
                <a:latin typeface="Outfit"/>
              </a:rPr>
              <a:t> Marcan el inicio y fin de un bloque.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86075"/>
            <a:ext cx="3454449" cy="2019300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886075"/>
            <a:ext cx="3454449" cy="2019300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2886075"/>
            <a:ext cx="3454449" cy="2019300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886075"/>
            <a:ext cx="3454449" cy="57150"/>
          </a:xfrm>
          <a:prstGeom prst="rect">
            <a:avLst/>
          </a:prstGeom>
          <a:solidFill>
            <a:srgbClr val="E0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68849" y="2886075"/>
            <a:ext cx="3454449" cy="57150"/>
          </a:xfrm>
          <a:prstGeom prst="rect">
            <a:avLst/>
          </a:prstGeom>
          <a:solidFill>
            <a:srgbClr val="FF8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99" y="2886075"/>
            <a:ext cx="3454449" cy="57150"/>
          </a:xfrm>
          <a:prstGeom prst="rect">
            <a:avLst/>
          </a:prstGeom>
          <a:solidFill>
            <a:srgbClr val="FCD5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-381000" y="1952625"/>
            <a:ext cx="12954000" cy="476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3A1C1C"/>
                </a:solidFill>
                <a:latin typeface="Outfit"/>
              </a:rPr>
              <a:t>Tipos de Operadores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8025"/>
            <a:ext cx="373386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A1C1C"/>
                </a:solidFill>
                <a:latin typeface="Outfit"/>
              </a:rPr>
              <a:t>Aritméticos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62375"/>
            <a:ext cx="355606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D94848"/>
                </a:solidFill>
                <a:latin typeface="Fira Code"/>
              </a:rPr>
              <a:t>+, -, *, /,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2425"/>
            <a:ext cx="294009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A4A4A"/>
                </a:solidFill>
                <a:latin typeface="Outfit"/>
              </a:rPr>
              <a:t>Operaciones matemáticas estándar. El % obtiene el residuo.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649" y="3248025"/>
            <a:ext cx="373386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A1C1C"/>
                </a:solidFill>
                <a:latin typeface="Outfit"/>
              </a:rPr>
              <a:t>Relacionales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649" y="3762375"/>
            <a:ext cx="355606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D94848"/>
                </a:solidFill>
                <a:latin typeface="Fira Code"/>
              </a:rPr>
              <a:t>==, !=, &gt;, &lt;, &gt;=, &lt;=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649" y="4162425"/>
            <a:ext cx="294009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A4A4A"/>
                </a:solidFill>
                <a:latin typeface="Outfit"/>
              </a:rPr>
              <a:t>Comparan valores y devuelven un booleano (true o false).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2899" y="3248025"/>
            <a:ext cx="373386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A1C1C"/>
                </a:solidFill>
                <a:latin typeface="Outfit"/>
              </a:rPr>
              <a:t>Lógicos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2899" y="3762375"/>
            <a:ext cx="355606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D94848"/>
                </a:solidFill>
                <a:latin typeface="Fira Code"/>
              </a:rPr>
              <a:t>&amp;&amp;, ||, 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899" y="4162425"/>
            <a:ext cx="294009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A4A4A"/>
                </a:solidFill>
                <a:latin typeface="Outfit"/>
              </a:rPr>
              <a:t>Unen o invierten múltiples condiciones lógicas.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52737"/>
            <a:ext cx="3505200" cy="2181225"/>
          </a:xfrm>
          <a:prstGeom prst="roundRect">
            <a:avLst>
              <a:gd name="adj" fmla="val 6986"/>
            </a:avLst>
          </a:prstGeom>
          <a:solidFill>
            <a:srgbClr val="FFFFFF"/>
          </a:solidFill>
          <a:ln w="9525">
            <a:solidFill>
              <a:srgbClr val="FC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52737"/>
            <a:ext cx="3505200" cy="2181225"/>
          </a:xfrm>
          <a:prstGeom prst="roundRect">
            <a:avLst>
              <a:gd name="adj" fmla="val 6986"/>
            </a:avLst>
          </a:prstGeom>
          <a:solidFill>
            <a:srgbClr val="FFFFFF"/>
          </a:solidFill>
          <a:ln w="9525">
            <a:solidFill>
              <a:srgbClr val="FC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52737"/>
            <a:ext cx="3505200" cy="2181225"/>
          </a:xfrm>
          <a:prstGeom prst="roundRect">
            <a:avLst>
              <a:gd name="adj" fmla="val 6986"/>
            </a:avLst>
          </a:prstGeom>
          <a:solidFill>
            <a:srgbClr val="FFFFFF"/>
          </a:solidFill>
          <a:ln w="9525">
            <a:solidFill>
              <a:srgbClr val="FC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167062"/>
            <a:ext cx="2667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167062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167062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1824037"/>
            <a:ext cx="115824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3A1C1C"/>
                </a:solidFill>
                <a:latin typeface="Outfit"/>
              </a:rPr>
              <a:t>Estructuras de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624262"/>
            <a:ext cx="377547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A1C1C"/>
                </a:solidFill>
                <a:latin typeface="Outfit"/>
              </a:rPr>
              <a:t>if / else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4062412"/>
            <a:ext cx="297180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A4A4A"/>
                </a:solidFill>
                <a:latin typeface="Outfit"/>
              </a:rPr>
              <a:t>Bifurcación. Ejecuta un bloque de código si la condición es verdadera, o toma un camino alternativo.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7725" y="3624262"/>
            <a:ext cx="377547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A1C1C"/>
                </a:solidFill>
                <a:latin typeface="Outfit"/>
              </a:rPr>
              <a:t>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4062412"/>
            <a:ext cx="297180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A4A4A"/>
                </a:solidFill>
                <a:latin typeface="Outfit"/>
              </a:rPr>
              <a:t>Repetición contada. Repite un bloque un número específico y conocido de veces.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1525" y="3624262"/>
            <a:ext cx="377547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A1C1C"/>
                </a:solidFill>
                <a:latin typeface="Outfit"/>
              </a:rPr>
              <a:t>while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4062412"/>
            <a:ext cx="297180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A4A4A"/>
                </a:solidFill>
                <a:latin typeface="Outfit"/>
              </a:rPr>
              <a:t>Repetición condicional. Repite un bloque mientras una condición dinámica siga siendo verdadera.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3105150"/>
            <a:ext cx="5257800" cy="1000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333875"/>
            <a:ext cx="5257800" cy="1000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24750" y="2000250"/>
            <a:ext cx="2857500" cy="2857500"/>
          </a:xfrm>
          <a:prstGeom prst="roundRect">
            <a:avLst>
              <a:gd name="adj" fmla="val 16666"/>
            </a:avLst>
          </a:prstGeom>
          <a:solidFill>
            <a:srgbClr val="FCD5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3105150"/>
            <a:ext cx="38100" cy="1000125"/>
          </a:xfrm>
          <a:prstGeom prst="rect">
            <a:avLst/>
          </a:prstGeom>
          <a:solidFill>
            <a:srgbClr val="E0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4333875"/>
            <a:ext cx="38100" cy="1000125"/>
          </a:xfrm>
          <a:prstGeom prst="rect">
            <a:avLst/>
          </a:prstGeom>
          <a:solidFill>
            <a:srgbClr val="E0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8700" y="2905125"/>
            <a:ext cx="609600" cy="609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1524000"/>
            <a:ext cx="6900862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3A1C1C"/>
                </a:solidFill>
                <a:latin typeface="Outfit"/>
              </a:rPr>
              <a:t>Conversión de Tipos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324100"/>
            <a:ext cx="53530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6A4A4A"/>
                </a:solidFill>
                <a:latin typeface="Outfit"/>
              </a:rPr>
              <a:t>Pasar el valor de una variable de un tipo a otro (Casting y Parseo).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333750"/>
            <a:ext cx="625078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A1C1C"/>
                </a:solidFill>
                <a:latin typeface="Outfit"/>
              </a:rPr>
              <a:t>Texto a Número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648075"/>
            <a:ext cx="59531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D94848"/>
                </a:solidFill>
                <a:latin typeface="Fira Code"/>
              </a:rPr>
              <a:t>Integer.parseInt("25");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4562475"/>
            <a:ext cx="625078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A1C1C"/>
                </a:solidFill>
                <a:latin typeface="Outfit"/>
              </a:rPr>
              <a:t>Decimal a Entero (Casting)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4876800"/>
            <a:ext cx="59531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D94848"/>
                </a:solidFill>
                <a:latin typeface="Fira Code"/>
              </a:rPr>
              <a:t>(int) 8.9; // Resulta en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0" y="3667125"/>
            <a:ext cx="214312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A1C1C"/>
                </a:solidFill>
                <a:latin typeface="Outfit"/>
              </a:rPr>
              <a:t>Transformación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5D5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366962"/>
            <a:ext cx="609600" cy="60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26753" y="3281362"/>
            <a:ext cx="7938492" cy="771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FFFFF"/>
                </a:solidFill>
                <a:latin typeface="Outfit"/>
              </a:rPr>
              <a:t>Ejercicios Propuestos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39703" y="4205287"/>
            <a:ext cx="551259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F8FAFC"/>
                </a:solidFill>
                <a:latin typeface="Outfit"/>
              </a:rPr>
              <a:t>Resolución a mano con prueba de escritorio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638300"/>
            <a:ext cx="10972800" cy="110490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048000"/>
            <a:ext cx="10972800" cy="14478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019300"/>
            <a:ext cx="152400" cy="342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3429000"/>
            <a:ext cx="1905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7620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Outfit"/>
              </a:rPr>
              <a:t>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4450" y="657225"/>
            <a:ext cx="4263032" cy="476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3A1C1C"/>
                </a:solidFill>
                <a:latin typeface="Outfit"/>
              </a:rPr>
              <a:t>Diagnóstico inicial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7800" y="2019300"/>
            <a:ext cx="8893968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4A1C1C"/>
                </a:solidFill>
                <a:latin typeface="Outfit"/>
              </a:rPr>
              <a:t>1. Escribir un programa que imprima “Hola, soy” seguido de tu nombre.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5900" y="3429000"/>
            <a:ext cx="98107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4A1C1C"/>
                </a:solidFill>
                <a:latin typeface="Outfit"/>
              </a:rPr>
              <a:t>2. Ampliar el programa anterior para que guarde los números 8 y 5 en dos variables e imprima “La suma es: 13”.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638300"/>
            <a:ext cx="10972800" cy="14478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390900"/>
            <a:ext cx="10972800" cy="14478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019300"/>
            <a:ext cx="152400" cy="685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3771900"/>
            <a:ext cx="1905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8763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Outfit"/>
              </a:rPr>
              <a:t>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8750" y="657225"/>
            <a:ext cx="6075759" cy="476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3A1C1C"/>
                </a:solidFill>
                <a:latin typeface="Outfit"/>
              </a:rPr>
              <a:t>Anatomía de un programa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7800" y="2019300"/>
            <a:ext cx="98488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4A1C1C"/>
                </a:solidFill>
                <a:latin typeface="Outfit"/>
              </a:rPr>
              <a:t>1. Escribir el programa Presentacion que imprima en tres líneas tu nombre, tu carrera y tu ciudad, con un comentario al inicio que explique qué hace.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5900" y="3771900"/>
            <a:ext cx="98107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4A1C1C"/>
                </a:solidFill>
                <a:latin typeface="Outfit"/>
              </a:rPr>
              <a:t>2. Copiar el programa anterior quitando a propósito dos punto y coma y una llave de cierre; intercambiar la hoja con un compañero para que encuentre y marque los 3 errores.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638300"/>
            <a:ext cx="10972800" cy="14478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390900"/>
            <a:ext cx="10972800" cy="14478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019300"/>
            <a:ext cx="152400" cy="685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3771900"/>
            <a:ext cx="1905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866775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Outfit"/>
              </a:rPr>
              <a:t>1.3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9225" y="657225"/>
            <a:ext cx="6738342" cy="476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3A1C1C"/>
                </a:solidFill>
                <a:latin typeface="Outfit"/>
              </a:rPr>
              <a:t>Variables, tipos y operadores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7800" y="2019300"/>
            <a:ext cx="98488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4A1C1C"/>
                </a:solidFill>
                <a:latin typeface="Outfit"/>
              </a:rPr>
              <a:t>1. Declarar las variables nombre (String), edad (int), estatura en metros (double) y esEstudiante (boolean) de una persona, e imprimirlas en una sola línea.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5900" y="3771900"/>
            <a:ext cx="98107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4A1C1C"/>
                </a:solidFill>
                <a:latin typeface="Outfit"/>
              </a:rPr>
              <a:t>2. Con las variables anteriores, calcular la edad que tendrá la persona dentro de 5 años y su estatura en centímetros, e imprimir ambos resultados.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638300"/>
            <a:ext cx="10972800" cy="14478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390900"/>
            <a:ext cx="10972800" cy="14478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019300"/>
            <a:ext cx="152400" cy="685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3771900"/>
            <a:ext cx="1905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8763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Outfit"/>
              </a:rPr>
              <a:t>1.4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8750" y="657225"/>
            <a:ext cx="2500312" cy="476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3A1C1C"/>
                </a:solidFill>
                <a:latin typeface="Outfit"/>
              </a:rPr>
              <a:t>Decisiones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7800" y="2019300"/>
            <a:ext cx="98488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4A1C1C"/>
                </a:solidFill>
                <a:latin typeface="Outfit"/>
              </a:rPr>
              <a:t>1. Con una variable nota de tipo double, imprimir “Aprobado” si es mayor o igual a 7 y “Reprobado” en caso contrario.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5900" y="3771900"/>
            <a:ext cx="98107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4A1C1C"/>
                </a:solidFill>
                <a:latin typeface="Outfit"/>
              </a:rPr>
              <a:t>2. Ampliar el anterior para que, si la nota está entre 5 y 6.99, imprima “Supletorio”; hacer la prueba de escritorio con las notas 8.5, 6 y 4.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638300"/>
            <a:ext cx="10972800" cy="110490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048000"/>
            <a:ext cx="10972800" cy="14478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019300"/>
            <a:ext cx="152400" cy="342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3429000"/>
            <a:ext cx="1905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866775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Outfit"/>
              </a:rPr>
              <a:t>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9225" y="657225"/>
            <a:ext cx="2475309" cy="476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3A1C1C"/>
                </a:solidFill>
                <a:latin typeface="Outfit"/>
              </a:rPr>
              <a:t>Repetición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7800" y="2019300"/>
            <a:ext cx="9001125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4A1C1C"/>
                </a:solidFill>
                <a:latin typeface="Outfit"/>
              </a:rPr>
              <a:t>1. Con un for, imprimir los números del 1 al 10 y al final su suma total (55).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5900" y="3429000"/>
            <a:ext cx="98107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4A1C1C"/>
                </a:solidFill>
                <a:latin typeface="Outfit"/>
              </a:rPr>
              <a:t>2. Modificar el anterior para que sume solo los números pares del 1 al 10 e imprima cuántos fueron y su suma (5 números, suma 30).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638300"/>
            <a:ext cx="10972800" cy="14478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390900"/>
            <a:ext cx="10972800" cy="14478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019300"/>
            <a:ext cx="152400" cy="685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3771900"/>
            <a:ext cx="1905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866775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Outfit"/>
              </a:rPr>
              <a:t>1.6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9225" y="657225"/>
            <a:ext cx="5225653" cy="476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3A1C1C"/>
                </a:solidFill>
                <a:latin typeface="Outfit"/>
              </a:rPr>
              <a:t>Computadora humana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7800" y="2019300"/>
            <a:ext cx="98488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4A1C1C"/>
                </a:solidFill>
                <a:latin typeface="Outfit"/>
              </a:rPr>
              <a:t>1. Predecir con prueba de escritorio la salida de: int x = 3; int y = x * 2; x = x + y; System.out.println(x + ” ” + y); (respuesta: 9 6).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5900" y="3771900"/>
            <a:ext cx="98107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4A1C1C"/>
                </a:solidFill>
                <a:latin typeface="Outfit"/>
              </a:rPr>
              <a:t>2. Agregar al programa anterior for (int i = 0; i &lt; 3; i++) { x = x - 2; } antes del println y predecir la nueva salida (respuesta: 3 6).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13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33500" y="1177379"/>
            <a:ext cx="9525000" cy="2264866"/>
          </a:xfrm>
          <a:prstGeom prst="roundRect">
            <a:avLst>
              <a:gd name="adj" fmla="val 10093"/>
            </a:avLst>
          </a:prstGeom>
          <a:solidFill>
            <a:srgbClr val="451F1F"/>
          </a:solidFill>
          <a:ln w="9525">
            <a:solidFill>
              <a:srgbClr val="4F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875" y="3899445"/>
            <a:ext cx="476250" cy="381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6281" y="1644104"/>
            <a:ext cx="107394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B3B3"/>
                </a:solidFill>
                <a:latin typeface="Outfit"/>
              </a:rPr>
              <a:t>PREGUNTA DE 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795" y="2015579"/>
            <a:ext cx="11276409" cy="959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b="1" sz="2700" i="0" u="none">
                <a:solidFill>
                  <a:srgbClr val="FFFFFF"/>
                </a:solidFill>
                <a:latin typeface="Outfit"/>
              </a:rPr>
              <a:t>Cierre: ¿cómo guardarías el nombre y el promedio de 5 estudiantes para mostrarlos uno debajo de otro?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89561" y="4509045"/>
            <a:ext cx="3012876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FFD1D1"/>
                </a:solidFill>
                <a:latin typeface="Outfit"/>
              </a:rPr>
              <a:t>Trabajo Autónomo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875" y="4994820"/>
            <a:ext cx="119062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F5E6E6"/>
                </a:solidFill>
                <a:latin typeface="Outfit"/>
              </a:rPr>
              <a:t>Trabajo autónomo (a mano): guardar en variables la edad de 3 personas e imprimir cuántas son mayores de edad, con su prueba de escritorio y la salida esperada.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