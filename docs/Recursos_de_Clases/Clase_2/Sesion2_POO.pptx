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54362aff-e4c5-f6b0-ab40-ac2deb5b01c4}">
          <p14:sldIdLst>
            <p14:sldId id="256"/>
            <p14:sldId id="257"/>
          </p14:sldIdLst>
        </p14:section>
        <p14:section name="2.1 Qué es la POO" id="{710765f5-8191-3030-e8b3-7e6dc467bd59}">
          <p14:sldIdLst>
            <p14:sldId id="258"/>
            <p14:sldId id="259"/>
            <p14:sldId id="260"/>
          </p14:sldIdLst>
        </p14:section>
        <p14:section name="2.2 Objetos" id="{086d1ccd-9d19-3c22-7d82-090a80a85909}">
          <p14:sldIdLst>
            <p14:sldId id="261"/>
            <p14:sldId id="262"/>
            <p14:sldId id="263"/>
          </p14:sldIdLst>
        </p14:section>
        <p14:section name="2.3 Clases" id="{9d8933f6-76eb-6208-f4b4-7ed5172c9398}">
          <p14:sldIdLst>
            <p14:sldId id="264"/>
            <p14:sldId id="265"/>
            <p14:sldId id="266"/>
            <p14:sldId id="267"/>
          </p14:sldIdLst>
        </p14:section>
        <p14:section name="2.4 Atributos" id="{26f42602-fb75-62da-f2a6-bb59d80100c3}">
          <p14:sldIdLst>
            <p14:sldId id="268"/>
            <p14:sldId id="269"/>
            <p14:sldId id="270"/>
          </p14:sldIdLst>
        </p14:section>
        <p14:section name="2.5 Instancias" id="{892a1bf1-a8a3-0391-7e25-ac983574d50c}">
          <p14:sldIdLst>
            <p14:sldId id="271"/>
            <p14:sldId id="272"/>
            <p14:sldId id="273"/>
            <p14:sldId id="274"/>
            <p14:sldId id="275"/>
          </p14:sldIdLst>
        </p14:section>
        <p14:section name="2.6 Referencias" id="{9d467caa-99ac-5cf1-694c-4b7e461e7d36}">
          <p14:sldIdLst>
            <p14:sldId id="276"/>
            <p14:sldId id="277"/>
          </p14:sldIdLst>
        </p14:section>
        <p14:section name="Métodos" id="{aff0bb61-32b5-5f5f-566e-9065ef923397}">
          <p14:sldIdLst>
            <p14:sldId id="278"/>
          </p14:sldIdLst>
        </p14:section>
        <p14:section name="Los 4 pilares" id="{e8ac0860-4a63-782f-ed7b-dd6c08a6fd8e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Cierre" id="{af024cc0-2c23-75bb-9650-45a331565f3a}">
          <p14:sldIdLst>
            <p14:sldId id="290"/>
            <p14:sldId id="291"/>
            <p14:sldId id="292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tema de la sesión. Recordar que hoy ya se trabaja en la computadora, sin asistentes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una vista general. La sesión va de lo concreto (objetos del aula) a lo abstracto (clases y pilares).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imaginen 40 estudiantes. El problema no es solo la cantidad de variables: los datos de un mismo estudiante no están unidos.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Paradigma = forma de pensar y organizar un programa. La POO no reemplaza al if ni al for: los métodos siguen usándolos por 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del tema 2.1: 15 minutos en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estudiantes que describan su celular: qué características tiene y qué puede hacer. Anotar en la pizarra en dos columnas.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la identidad: dos objetos con los mismos valores siguen siendo dos objetos distintos. Esto se verá luego en memoria.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del tema 2.2: 15 minutos en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estudiantes otra analogía propia de molde y objetos.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preguntas rápidas: ¿Perro es clase u objeto? ¿Firulais? ¿Celular? ¿El celular de Ana?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Crear el archivo en el IDE junto con los estudiantes. Revisar que el nombre del archivo coincida con el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del tema 2.3: 20 minutos en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Atributo = la característica (edad). Valor = el dato concreto de un objeto (19). Los nombres de atributos van en camelCase.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null significa que el atributo no apunta a ningún texto todavía. En el tema 2.5 se comprueba imprimiendo los atributos de un objeto recién creado.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del tema 2.4: 20 minutos en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línea en voz alta de derecha a izquierda: primero se crea el objeto y después se guarda su referencia en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predigan la salida antes de ejecutar.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los diagramas UML, el nombre de un objeto va subrayado: nombreObjeto :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ejercicio 2.5. Más adelante, con arreglos, se podrá recorrer a los estudiantes con un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del tema 2.5: 25 minutos en total. Pedir también que impriman los atributos de un objeto sin valores para comprobar los valores por defecto.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con la memoria viva. a == b es false: son dos objetos distintos aunque tengan el mismo promedio (identidad). a == c es true: es el mismo objeto.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del tema 2.6: 15 minutos en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hacia los pilares: hasta aquí los objetos solo guardaban datos; ahora también hacen cosas. Un método se llama con el punto, igual que un atributo, pero con paréntesis.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pilares no son instrucciones de Java, son principios de diseño. Cada uno se apoya en lo que ya vimos: clases, objetos, atributos y métodos.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abstracción es el primer paso al diseñar: mirar el problema y decidir qué es importante.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estudiantes que propongan los atributos de un Celular para una tienda y para un servicio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encapsulamiento evita que alguien deje un objeto en un estado imposible, como un saldo negativo.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error de compilación al intentar cuenta.saldo = -500. El método depositar decide qué cambios son válidos.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UML la flecha va de la hija hacia el padre. La hija no repite el código de la padre: lo reutiliza.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Persona.java y Estudiante.java son dos archivos distintos. La hija puede usar nombre y saludar() sin escribirlos de nuevo.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método, distinta respuesta. Necesita herencia: por eso el polimorfismo se enseña después de la herencia.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a1 es de tipo Animal, pero el objeto es un Perro: Java ejecuta el método del objeto real. Eso es el polimorfismo.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oral: pedir un ejemplo propio de cada pilar.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Ejercicios de refuerzo de los pilares.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típico: decir que la herencia crea objetos. La herencia solo conecta clases; los objetos siempre se crean con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Arriba, las clases unidas por herencia. Abajo, los objetos creados con new. ana también tiene nombre y cédula, porque los hereda de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cuál de estos errores cometieron en la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respuestas en papel antes de discutirlas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17720" y="0"/>
            <a:ext cx="452628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74320"/>
            <a:ext cx="8558784" cy="4498848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48097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Fher Dorian Calderón Carvajal · Introducción a la POO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914400" y="1417320"/>
            <a:ext cx="7315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914400" y="269748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17720" y="0"/>
            <a:ext cx="452628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74320"/>
            <a:ext cx="8558784" cy="4498848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48097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Fher Dorian Calderón Carvajal · Introducción a la POO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17720" y="0"/>
            <a:ext cx="452628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74320"/>
            <a:ext cx="8558784" cy="4498848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48097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Fher Dorian Calderón Carvajal · Introducción a la POO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914400" y="14173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Introducción a la Programación Orientada a Objetos</a:t>
            </a:r>
            <a:endParaRPr lang="en-US" sz="34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914400" y="2697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2: clases, objetos, atributos e instancias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 que veremos hoy</a:t>
            </a:r>
            <a:endParaRPr lang="en-US" sz="2600" dirty="0"/>
          </a:p>
        </p:txBody>
      </p:sp>
      <p:sp>
        <p:nvSpPr>
          <p:cNvPr id="3" name="agenda-1"/>
          <p:cNvSpPr/>
          <p:nvPr/>
        </p:nvSpPr>
        <p:spPr>
          <a:xfrm>
            <a:off x="594360" y="1188720"/>
            <a:ext cx="2514600" cy="13716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61288" y="1325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¿Qué es la POO?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Tema 2.1: el problema de las variables sueltas</a:t>
            </a:r>
            <a:endParaRPr lang="en-US" sz="1300" dirty="0"/>
          </a:p>
        </p:txBody>
      </p:sp>
      <p:sp>
        <p:nvSpPr>
          <p:cNvPr id="8" name="agenda-2"/>
          <p:cNvSpPr/>
          <p:nvPr/>
        </p:nvSpPr>
        <p:spPr>
          <a:xfrm>
            <a:off x="3314700" y="1188720"/>
            <a:ext cx="2514600" cy="13716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1860" y="13258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5186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81628" y="1325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Objetos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1783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Tema 2.2: estado, comportamiento e identidad</a:t>
            </a:r>
            <a:endParaRPr lang="en-US" sz="1300" dirty="0"/>
          </a:p>
        </p:txBody>
      </p:sp>
      <p:sp>
        <p:nvSpPr>
          <p:cNvPr id="13" name="agenda-3"/>
          <p:cNvSpPr/>
          <p:nvPr/>
        </p:nvSpPr>
        <p:spPr>
          <a:xfrm>
            <a:off x="6035040" y="1188720"/>
            <a:ext cx="2514600" cy="13716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3258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1325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Clases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783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Tema 2.3: el molde y su sintaxis en Java</a:t>
            </a:r>
            <a:endParaRPr lang="en-US" sz="1300" dirty="0"/>
          </a:p>
        </p:txBody>
      </p:sp>
      <p:sp>
        <p:nvSpPr>
          <p:cNvPr id="18" name="agenda-4"/>
          <p:cNvSpPr/>
          <p:nvPr/>
        </p:nvSpPr>
        <p:spPr>
          <a:xfrm>
            <a:off x="594360" y="2743200"/>
            <a:ext cx="2514600" cy="13716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8803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Atributos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337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Tema 2.4: tipo, nombre y valores por defecto</a:t>
            </a:r>
            <a:endParaRPr lang="en-US" sz="1300" dirty="0"/>
          </a:p>
        </p:txBody>
      </p:sp>
      <p:sp>
        <p:nvSpPr>
          <p:cNvPr id="23" name="agenda-5"/>
          <p:cNvSpPr/>
          <p:nvPr/>
        </p:nvSpPr>
        <p:spPr>
          <a:xfrm>
            <a:off x="3314700" y="2743200"/>
            <a:ext cx="2514600" cy="13716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1860" y="28803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5186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881628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Instancias y referencias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1860" y="3337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Temas 2.5 y 2.6: new, el punto y la memoria</a:t>
            </a:r>
            <a:endParaRPr lang="en-US" sz="1300" dirty="0"/>
          </a:p>
        </p:txBody>
      </p:sp>
      <p:sp>
        <p:nvSpPr>
          <p:cNvPr id="28" name="agenda-6"/>
          <p:cNvSpPr/>
          <p:nvPr/>
        </p:nvSpPr>
        <p:spPr>
          <a:xfrm>
            <a:off x="6035040" y="2743200"/>
            <a:ext cx="2514600" cy="13716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8803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7220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601968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Métodos y los 4 pilares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337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Abstracción, encapsulamiento, herencia y polimorfismo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4315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Después de cada tema hay una práctica corta: primero se explica, luego se practica.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2.1 · ¿Qué es la POO?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 problema: 5 estudiantes con variables sueltas</a:t>
            </a:r>
            <a:endParaRPr lang="en-US" sz="2600" dirty="0"/>
          </a:p>
        </p:txBody>
      </p:sp>
      <p:sp>
        <p:nvSpPr>
          <p:cNvPr id="4" name="codigo-fondo"/>
          <p:cNvSpPr/>
          <p:nvPr/>
        </p:nvSpPr>
        <p:spPr>
          <a:xfrm>
            <a:off x="594360" y="1143000"/>
            <a:ext cx="4892040" cy="23317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codigo"/>
          <p:cNvSpPr txBox="1"/>
          <p:nvPr/>
        </p:nvSpPr>
        <p:spPr>
          <a:xfrm>
            <a:off x="640080" y="1143000"/>
            <a:ext cx="4800600" cy="233172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nombre1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promedio1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8.7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nombre2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"Luis"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promedio2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9.1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nombre3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"María"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promedio3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nombre4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"Pedro"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promedio4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nombre5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"Sofía"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promedio5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9.4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nombre1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: 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promedio1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nombre2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: 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promedio2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y así hasta nombre5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1430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1887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variables para guardar solo nombre y promedio de 5 estudiantes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3317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3774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variables si además queremos guardar la edad</a:t>
            </a:r>
            <a:endParaRPr lang="en-US" sz="1300" dirty="0"/>
          </a:p>
        </p:txBody>
      </p:sp>
      <p:sp>
        <p:nvSpPr>
          <p:cNvPr id="10" name="pregunta"/>
          <p:cNvSpPr/>
          <p:nvPr/>
        </p:nvSpPr>
        <p:spPr>
          <a:xfrm>
            <a:off x="594360" y="3657600"/>
            <a:ext cx="7955280" cy="8686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7490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Nada une a nombre1 con promedio1, solo el número que les pusimos.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¿Y si cada estudiante fuera un solo “paquete” que guarda su nombre y su promedio juntos? Esa es la idea de la POO.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2.1 · ¿Qué es la POO?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¿Qué es la Programación Orientada a Objetos?</a:t>
            </a:r>
            <a:endParaRPr lang="en-US" sz="2600" dirty="0"/>
          </a:p>
        </p:txBody>
      </p:sp>
      <p:sp>
        <p:nvSpPr>
          <p:cNvPr id="4" name="definicion"/>
          <p:cNvSpPr txBox="1"/>
          <p:nvPr/>
        </p:nvSpPr>
        <p:spPr>
          <a:xfrm>
            <a:off x="594360" y="1078992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Programación Orientada a Objetos (POO)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es un paradigma de programación que organiza el programa en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objetos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cada objeto junta sus datos (atributos) y las acciones que puede hacer (métodos), igual que las cosas de la vida real.</a:t>
            </a:r>
            <a:endParaRPr lang="en-US" sz="1500" dirty="0"/>
          </a:p>
        </p:txBody>
      </p:sp>
      <p:sp>
        <p:nvSpPr>
          <p:cNvPr id="5" name="comparacion-1"/>
          <p:cNvSpPr/>
          <p:nvPr/>
        </p:nvSpPr>
        <p:spPr>
          <a:xfrm>
            <a:off x="594360" y="2011680"/>
            <a:ext cx="3886200" cy="20116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Programación estructurada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Los datos y las funciones van por separado.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 programa es una secuencia de pasos.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 que hiciste en la sesión 1: variables, if y for.</a:t>
            </a:r>
            <a:endParaRPr lang="en-US" sz="1300" dirty="0"/>
          </a:p>
        </p:txBody>
      </p:sp>
      <p:sp>
        <p:nvSpPr>
          <p:cNvPr id="8" name="comparacion-2"/>
          <p:cNvSpPr/>
          <p:nvPr/>
        </p:nvSpPr>
        <p:spPr>
          <a:xfrm>
            <a:off x="4663440" y="2011680"/>
            <a:ext cx="3886200" cy="20116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2103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Programación orientada a objetos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5146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Los datos y las acciones van juntos dentro de cada objeto.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 programa son objetos que colaboran entre sí.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 modela el problema como en la vida real.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1879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Lenguajes orientados a objetos: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Java, C#, C++, Python y Kotlin, entre otros.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2.1 · ¿Qué es la POO?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Práctica 2.1: variables sueltas</a:t>
            </a:r>
            <a:endParaRPr lang="en-US" sz="2600" dirty="0"/>
          </a:p>
        </p:txBody>
      </p:sp>
      <p:sp>
        <p:nvSpPr>
          <p:cNvPr id="4" name="ejercicio-2.1-1"/>
          <p:cNvSpPr/>
          <p:nvPr/>
        </p:nvSpPr>
        <p:spPr>
          <a:xfrm>
            <a:off x="594360" y="1188720"/>
            <a:ext cx="7955280" cy="12344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298448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Ejercicio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Escribe un programa con variables sueltas (nombre1, promedio1 … nombre5, promedio5) que muestre los 5 estudiantes uno debajo de otro con el formato nombre : promedio.</a:t>
            </a:r>
            <a:endParaRPr lang="en-US" sz="1500" dirty="0"/>
          </a:p>
        </p:txBody>
      </p:sp>
      <p:sp>
        <p:nvSpPr>
          <p:cNvPr id="8" name="ejercicio-2.1-2"/>
          <p:cNvSpPr/>
          <p:nvPr/>
        </p:nvSpPr>
        <p:spPr>
          <a:xfrm>
            <a:off x="594360" y="2560320"/>
            <a:ext cx="7955280" cy="12344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43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70048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Continúa el ejercicio anterior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Agrégale la edad de cada estudiante en la misma línea. Cuenta cuántas variables y líneas nuevas hicieron falta y explica por qué esta forma no escala.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0233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En la computadora y sin IA. Antes de ejecutar, escribe la salida que esperas.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2.2 · Objetos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Cómo se piensa en objetos</a:t>
            </a:r>
            <a:endParaRPr lang="en-US" sz="2600" dirty="0"/>
          </a:p>
        </p:txBody>
      </p:sp>
      <p:sp>
        <p:nvSpPr>
          <p:cNvPr id="4" name="atributos-auto"/>
          <p:cNvSpPr/>
          <p:nvPr/>
        </p:nvSpPr>
        <p:spPr>
          <a:xfrm>
            <a:off x="594360" y="1188720"/>
            <a:ext cx="2926080" cy="25146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Atributos: cómo 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3736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color: rojo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marca: Chevrolet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kilometraje: 12000 km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velocidad: 0 km/h</a:t>
            </a:r>
            <a:endParaRPr lang="en-US" sz="1300" dirty="0"/>
          </a:p>
        </p:txBody>
      </p:sp>
      <p:sp>
        <p:nvSpPr>
          <p:cNvPr id="7" name="icono-FaCar"/>
          <p:cNvSpPr/>
          <p:nvPr/>
        </p:nvSpPr>
        <p:spPr>
          <a:xfrm>
            <a:off x="3931920" y="160020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FaC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0365" y="1958645"/>
            <a:ext cx="563270" cy="56327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 auto</a:t>
            </a:r>
            <a:endParaRPr lang="en-US" sz="1500" dirty="0"/>
          </a:p>
        </p:txBody>
      </p:sp>
      <p:sp>
        <p:nvSpPr>
          <p:cNvPr id="10" name="metodos-auto"/>
          <p:cNvSpPr/>
          <p:nvPr/>
        </p:nvSpPr>
        <p:spPr>
          <a:xfrm>
            <a:off x="5623560" y="1188720"/>
            <a:ext cx="2926080" cy="25146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Métodos: qué hace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173736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encender()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acelerar()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frenar()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apagar()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8862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En la vida real describimos cualquier cosa así: por cómo es y por lo que puede hacer. La POO lleva esa misma idea al código.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2.2 · Objetos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Objeto</a:t>
            </a:r>
            <a:endParaRPr lang="en-US" sz="2600" dirty="0"/>
          </a:p>
        </p:txBody>
      </p:sp>
      <p:sp>
        <p:nvSpPr>
          <p:cNvPr id="4" name="definicion"/>
          <p:cNvSpPr txBox="1"/>
          <p:nvPr/>
        </p:nvSpPr>
        <p:spPr>
          <a:xfrm>
            <a:off x="594360" y="107899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objeto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es un elemento concreto que existe dentro del programa. Todo objeto tiene un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estado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un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comportamiento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y una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identidad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propia.</a:t>
            </a:r>
            <a:endParaRPr lang="en-US" sz="1500" dirty="0"/>
          </a:p>
        </p:txBody>
      </p:sp>
      <p:sp>
        <p:nvSpPr>
          <p:cNvPr id="5" name="objeto-Estado"/>
          <p:cNvSpPr/>
          <p:nvPr/>
        </p:nvSpPr>
        <p:spPr>
          <a:xfrm>
            <a:off x="594360" y="1783080"/>
            <a:ext cx="2514600" cy="22402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icono-FaDatabase"/>
          <p:cNvSpPr/>
          <p:nvPr/>
        </p:nvSpPr>
        <p:spPr>
          <a:xfrm>
            <a:off x="758952" y="190195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2042770"/>
            <a:ext cx="221285" cy="22128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9019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Estado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Los valores que tienen sus atributos en este momento.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58952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Tu celular: negro, 128 GB, batería al 70 %.</a:t>
            </a:r>
            <a:endParaRPr lang="en-US" sz="1200" dirty="0"/>
          </a:p>
        </p:txBody>
      </p:sp>
      <p:sp>
        <p:nvSpPr>
          <p:cNvPr id="11" name="objeto-Comportamiento"/>
          <p:cNvSpPr/>
          <p:nvPr/>
        </p:nvSpPr>
        <p:spPr>
          <a:xfrm>
            <a:off x="3314700" y="1783080"/>
            <a:ext cx="2514600" cy="22402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icono-FaCogs"/>
          <p:cNvSpPr/>
          <p:nvPr/>
        </p:nvSpPr>
        <p:spPr>
          <a:xfrm>
            <a:off x="3479292" y="190195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110" y="2042770"/>
            <a:ext cx="221285" cy="22128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91940" y="19019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Comportamiento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479292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Las acciones que puede realizar: sus métodos.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479292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Tu celular: llamar, enviar un mensaje, tomar una foto.</a:t>
            </a:r>
            <a:endParaRPr lang="en-US" sz="1200" dirty="0"/>
          </a:p>
        </p:txBody>
      </p:sp>
      <p:sp>
        <p:nvSpPr>
          <p:cNvPr id="17" name="objeto-Identidad"/>
          <p:cNvSpPr/>
          <p:nvPr/>
        </p:nvSpPr>
        <p:spPr>
          <a:xfrm>
            <a:off x="6035040" y="1783080"/>
            <a:ext cx="2514600" cy="22402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icono-FaFingerprint"/>
          <p:cNvSpPr/>
          <p:nvPr/>
        </p:nvSpPr>
        <p:spPr>
          <a:xfrm>
            <a:off x="6199632" y="190195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2" descr="FaFingerpri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450" y="2042770"/>
            <a:ext cx="221285" cy="22128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812280" y="19019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Identidad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199632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Cada objeto es único, aunque otro tenga los mismos valores.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199632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Tu celular no es el de tu compañero, aunque sean del mismo modelo.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94360" y="4160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Más objetos de la vida real: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tu mochila, el auto de tu familia, la cuenta bancaria de Ana, el estudiante Luis.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2.2 · Objetos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Práctica 2.2: objetos del aula</a:t>
            </a:r>
            <a:endParaRPr lang="en-US" sz="2600" dirty="0"/>
          </a:p>
        </p:txBody>
      </p:sp>
      <p:sp>
        <p:nvSpPr>
          <p:cNvPr id="4" name="ejercicio-2.2-1"/>
          <p:cNvSpPr/>
          <p:nvPr/>
        </p:nvSpPr>
        <p:spPr>
          <a:xfrm>
            <a:off x="594360" y="1188720"/>
            <a:ext cx="7955280" cy="12344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298448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Ejercicio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Elige 3 objetos del aula (una mochila, un celular, una silla) y escribe 4 características de cada uno con sus valores reales.</a:t>
            </a:r>
            <a:endParaRPr lang="en-US" sz="1500" dirty="0"/>
          </a:p>
        </p:txBody>
      </p:sp>
      <p:sp>
        <p:nvSpPr>
          <p:cNvPr id="8" name="ejercicio-2.2-2"/>
          <p:cNvSpPr/>
          <p:nvPr/>
        </p:nvSpPr>
        <p:spPr>
          <a:xfrm>
            <a:off x="594360" y="2560320"/>
            <a:ext cx="7955280" cy="12344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43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70048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Continúa el ejercicio anterior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Busca otro objeto del mismo tipo que uno de ellos (otra mochila) y compara qué características comparten y qué valores cambian.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0233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En parejas, en el cuaderno. Todavía no se usa la computadora.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2.3 · Clases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Clase</a:t>
            </a:r>
            <a:endParaRPr lang="en-US" sz="2600" dirty="0"/>
          </a:p>
        </p:txBody>
      </p:sp>
      <p:sp>
        <p:nvSpPr>
          <p:cNvPr id="4" name="definicion"/>
          <p:cNvSpPr txBox="1"/>
          <p:nvPr/>
        </p:nvSpPr>
        <p:spPr>
          <a:xfrm>
            <a:off x="594360" y="107899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clase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es el molde o plano que describe qué atributos y qué métodos tendrán sus objetos.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 clase no es un objeto: solo lo describe.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 partir de una clase se pueden crear muchos objetos.</a:t>
            </a:r>
            <a:endParaRPr lang="en-US" sz="1500" dirty="0"/>
          </a:p>
        </p:txBody>
      </p:sp>
      <p:sp>
        <p:nvSpPr>
          <p:cNvPr id="5" name="analogia-1"/>
          <p:cNvSpPr/>
          <p:nvPr/>
        </p:nvSpPr>
        <p:spPr>
          <a:xfrm>
            <a:off x="594360" y="1874520"/>
            <a:ext cx="2514600" cy="21488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icono-FaCookieBite"/>
          <p:cNvSpPr/>
          <p:nvPr/>
        </p:nvSpPr>
        <p:spPr>
          <a:xfrm>
            <a:off x="1536192" y="199339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FaCookieB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414" y="2172614"/>
            <a:ext cx="281635" cy="2816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Molde de galletas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Clase: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molde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4564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Objetos: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Cada galleta</a:t>
            </a:r>
            <a:endParaRPr lang="en-US" sz="1300" dirty="0"/>
          </a:p>
        </p:txBody>
      </p:sp>
      <p:sp>
        <p:nvSpPr>
          <p:cNvPr id="11" name="analogia-2"/>
          <p:cNvSpPr/>
          <p:nvPr/>
        </p:nvSpPr>
        <p:spPr>
          <a:xfrm>
            <a:off x="3314700" y="1874520"/>
            <a:ext cx="2514600" cy="21488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icono-FaDraftingCompass"/>
          <p:cNvSpPr/>
          <p:nvPr/>
        </p:nvSpPr>
        <p:spPr>
          <a:xfrm>
            <a:off x="4256532" y="199339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DraftingComp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754" y="2172614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51860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Plano de una casa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97580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Clase: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plano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497580" y="34564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Objetos: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Cada casa construida</a:t>
            </a:r>
            <a:endParaRPr lang="en-US" sz="1300" dirty="0"/>
          </a:p>
        </p:txBody>
      </p:sp>
      <p:sp>
        <p:nvSpPr>
          <p:cNvPr id="17" name="analogia-3"/>
          <p:cNvSpPr/>
          <p:nvPr/>
        </p:nvSpPr>
        <p:spPr>
          <a:xfrm>
            <a:off x="6035040" y="1874520"/>
            <a:ext cx="2514600" cy="21488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icono-FaClipboardList"/>
          <p:cNvSpPr/>
          <p:nvPr/>
        </p:nvSpPr>
        <p:spPr>
          <a:xfrm>
            <a:off x="6976872" y="199339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FaClipboard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094" y="2172614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172200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Ficha de matrícula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Clase: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ficha en blanco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34564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Objetos: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Cada ficha llena de un estudiante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94360" y="41330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Con un molde no te comes nada: te comes las galletas. Con una clase tampoco guardas datos: los guardan sus objetos.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2.3 · Clases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Clase vs objeto</a:t>
            </a:r>
            <a:endParaRPr lang="en-US" sz="2600" dirty="0"/>
          </a:p>
        </p:txBody>
      </p:sp>
      <p:graphicFrame>
        <p:nvGraphicFramePr>
          <p:cNvPr id="11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88720"/>
          <a:ext cx="7955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3200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molde: la descripción de cómo son y qué hacen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elemento concreto creado a partir del molde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Cuántos hay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sola por cada tipo (una clase Estudiante)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los que se necesiten (Ana, Luis, María…)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aparece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escribe en el código, en un archivo .java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crea al ejecutar el programa, con new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qué atributos existen, sin valores de un caso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 sus propios valores en cada atributo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Estudiante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ana, luis, maria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42062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Regla rápida: si puedes preguntar “¿cuál?”, es un objeto. Si preguntas “¿cómo son todos?”, es una clase.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2.3 · Clases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Una clase en Java</a:t>
            </a:r>
            <a:endParaRPr lang="en-US" sz="2600" dirty="0"/>
          </a:p>
        </p:txBody>
      </p:sp>
      <p:sp>
        <p:nvSpPr>
          <p:cNvPr id="4" name="codigo-fondo"/>
          <p:cNvSpPr/>
          <p:nvPr/>
        </p:nvSpPr>
        <p:spPr>
          <a:xfrm>
            <a:off x="594360" y="1188720"/>
            <a:ext cx="3931920" cy="19202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codigo"/>
          <p:cNvSpPr txBox="1"/>
          <p:nvPr/>
        </p:nvSpPr>
        <p:spPr>
          <a:xfrm>
            <a:off x="640080" y="1188720"/>
            <a:ext cx="3840480" cy="192024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Atributos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matriculado</a:t>
            </a:r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2344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5488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1887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Palabras que declaran una clase pública.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9659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Nombre de la clase en PascalCase. El archivo debe llamarse Estudiante.java.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7889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74320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Todo lo que pertenece a la clase va entre estas llaves.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56616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5488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5204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nombre;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Cada atributo: tipo, nombre en camelCase y punto y coma.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291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La clase sola no hace nada visible: todavía no existe ningún estudiante en memoria. Para eso hay que crear instancias.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2.3 · Clases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Práctica 2.3: tu primera clase</a:t>
            </a:r>
            <a:endParaRPr lang="en-US" sz="2600" dirty="0"/>
          </a:p>
        </p:txBody>
      </p:sp>
      <p:sp>
        <p:nvSpPr>
          <p:cNvPr id="4" name="ejercicio-2.3-1"/>
          <p:cNvSpPr/>
          <p:nvPr/>
        </p:nvSpPr>
        <p:spPr>
          <a:xfrm>
            <a:off x="594360" y="1188720"/>
            <a:ext cx="7955280" cy="12344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298448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Ejercicio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Crea en el IDE un proyecto con el archivo Estudiante.java que contenga la clase Estudiante y compílalo sin errores.</a:t>
            </a:r>
            <a:endParaRPr lang="en-US" sz="1500" dirty="0"/>
          </a:p>
        </p:txBody>
      </p:sp>
      <p:sp>
        <p:nvSpPr>
          <p:cNvPr id="8" name="ejercicio-2.3-2"/>
          <p:cNvSpPr/>
          <p:nvPr/>
        </p:nvSpPr>
        <p:spPr>
          <a:xfrm>
            <a:off x="594360" y="2560320"/>
            <a:ext cx="7955280" cy="12344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43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70048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Continúa el ejercicio anterior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Agrega al mismo proyecto una clase Main con el método main que imprima "Proyecto listo" y ejecútalo.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0233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En la computadora y sin IA. Antes de ejecutar, escribe la salida que esperas.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2.4 · Atributos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Atributos</a:t>
            </a:r>
            <a:endParaRPr lang="en-US" sz="2600" dirty="0"/>
          </a:p>
        </p:txBody>
      </p:sp>
      <p:sp>
        <p:nvSpPr>
          <p:cNvPr id="4" name="definicion"/>
          <p:cNvSpPr txBox="1"/>
          <p:nvPr/>
        </p:nvSpPr>
        <p:spPr>
          <a:xfrm>
            <a:off x="594360" y="107899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atributo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es una característica de un objeto. Se declara en la clase con un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tipo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y un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nombre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; cada objeto guarda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 propio valor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en ese atributo.</a:t>
            </a:r>
            <a:endParaRPr lang="en-US" sz="1500" dirty="0"/>
          </a:p>
        </p:txBody>
      </p:sp>
      <p:sp>
        <p:nvSpPr>
          <p:cNvPr id="5" name="uml-Estudiante"/>
          <p:cNvSpPr/>
          <p:nvPr/>
        </p:nvSpPr>
        <p:spPr>
          <a:xfrm>
            <a:off x="594360" y="1828800"/>
            <a:ext cx="2743200" cy="32918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Estudiante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157984"/>
            <a:ext cx="2743200" cy="98755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0370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nombre: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edad: 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promedio: double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matriculado: boolean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Diagrama de la clase: nombre arriba y atributos debajo, con su tipo.</a:t>
            </a:r>
            <a:endParaRPr lang="en-US" sz="1100" dirty="0"/>
          </a:p>
        </p:txBody>
      </p:sp>
      <p:graphicFrame>
        <p:nvGraphicFramePr>
          <p:cNvPr id="14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828800"/>
          <a:ext cx="48920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00584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luis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nombre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"Ana"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"Luis"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edad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promedio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matriculado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3657600" y="39319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Los dos objetos tienen los mismos atributos, pero cada uno con sus propios valores.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2.4 · Atributos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Valores por defecto de los atributos</a:t>
            </a:r>
            <a:endParaRPr lang="en-US" sz="2600" dirty="0"/>
          </a:p>
        </p:txBody>
      </p:sp>
      <p:sp>
        <p:nvSpPr>
          <p:cNvPr id="4" name="definicion"/>
          <p:cNvSpPr txBox="1"/>
          <p:nvPr/>
        </p:nvSpPr>
        <p:spPr>
          <a:xfrm>
            <a:off x="594360" y="107899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 a un atributo no se le asigna un valor, Java le pone uno por defecto según su tipo.</a:t>
            </a:r>
            <a:endParaRPr lang="en-US" sz="1500" dirty="0"/>
          </a:p>
        </p:txBody>
      </p:sp>
      <p:graphicFrame>
        <p:nvGraphicFramePr>
          <p:cNvPr id="1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3931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del atributo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por defecto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'\u0000' (carácter nulo)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(y cualquier objeto)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(no apunta a nada)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objeto-nuevo : Estudiante"/>
          <p:cNvSpPr/>
          <p:nvPr/>
        </p:nvSpPr>
        <p:spPr>
          <a:xfrm>
            <a:off x="4892040" y="1554480"/>
            <a:ext cx="3657600" cy="1225296"/>
          </a:xfrm>
          <a:prstGeom prst="roundRect">
            <a:avLst>
              <a:gd name="adj" fmla="val 597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83480" y="1600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 : Estudiante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1883664"/>
            <a:ext cx="3474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null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0.0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matriculado = false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2926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Así queda un estudiante al que todavía no se le asignó ningún valor. Lo comprobarás en el tema 2.5, cuando crees objetos con new.</a:t>
            </a:r>
            <a:endParaRPr lang="en-US" sz="1200" dirty="0"/>
          </a:p>
        </p:txBody>
      </p:sp>
      <p:sp>
        <p:nvSpPr>
          <p:cNvPr id="10" name="aviso"/>
          <p:cNvSpPr/>
          <p:nvPr/>
        </p:nvSpPr>
        <p:spPr>
          <a:xfrm>
            <a:off x="594360" y="3886200"/>
            <a:ext cx="7955280" cy="6400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icono-FaExclamationTriangle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0" descr="FaExclamation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410565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25880" y="3931920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Ojo: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esto solo pasa con los atributos. Una variable local, por ejemplo dentro de main, debe tener un valor antes de usarse o el programa no compila.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2.4 · Atributos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Práctica 2.4: atributos</a:t>
            </a:r>
            <a:endParaRPr lang="en-US" sz="2600" dirty="0"/>
          </a:p>
        </p:txBody>
      </p:sp>
      <p:sp>
        <p:nvSpPr>
          <p:cNvPr id="4" name="ejercicio-2.4-1"/>
          <p:cNvSpPr/>
          <p:nvPr/>
        </p:nvSpPr>
        <p:spPr>
          <a:xfrm>
            <a:off x="594360" y="1188720"/>
            <a:ext cx="7955280" cy="12344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298448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Ejercicio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Agrega a la clase Estudiante los atributos nombre (String) y promedio (double).</a:t>
            </a:r>
            <a:endParaRPr lang="en-US" sz="1500" dirty="0"/>
          </a:p>
        </p:txBody>
      </p:sp>
      <p:sp>
        <p:nvSpPr>
          <p:cNvPr id="8" name="ejercicio-2.4-2"/>
          <p:cNvSpPr/>
          <p:nvPr/>
        </p:nvSpPr>
        <p:spPr>
          <a:xfrm>
            <a:off x="594360" y="2560320"/>
            <a:ext cx="7955280" cy="12344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43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70048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Continúa el ejercicio anterior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Agrega también edad (int) y aprobado (boolean), y escribe el valor por defecto de cada uno de los 4 atributos.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0233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En la computadora y sin IA. Antes de ejecutar, escribe la salida que esperas.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2.5 · Instancias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Instancia: crear un objeto con new</a:t>
            </a:r>
            <a:endParaRPr lang="en-US" sz="2600" dirty="0"/>
          </a:p>
        </p:txBody>
      </p:sp>
      <p:sp>
        <p:nvSpPr>
          <p:cNvPr id="4" name="definicion"/>
          <p:cNvSpPr txBox="1"/>
          <p:nvPr/>
        </p:nvSpPr>
        <p:spPr>
          <a:xfrm>
            <a:off x="594360" y="107899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Instanciar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es crear un objeto a partir de una clase. El objeto creado se llama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instancia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de esa clase. Objeto e instancia son lo mismo: “instancia” resalta de qué clase salió.</a:t>
            </a:r>
            <a:endParaRPr lang="en-US" sz="1500" dirty="0"/>
          </a:p>
        </p:txBody>
      </p:sp>
      <p:sp>
        <p:nvSpPr>
          <p:cNvPr id="5" name="parte-1"/>
          <p:cNvSpPr/>
          <p:nvPr/>
        </p:nvSpPr>
        <p:spPr>
          <a:xfrm>
            <a:off x="594360" y="1965960"/>
            <a:ext cx="210312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97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Tipo de la variable: la clase</a:t>
            </a:r>
            <a:endParaRPr lang="en-US" sz="1200" dirty="0"/>
          </a:p>
        </p:txBody>
      </p:sp>
      <p:sp>
        <p:nvSpPr>
          <p:cNvPr id="8" name="parte-2"/>
          <p:cNvSpPr/>
          <p:nvPr/>
        </p:nvSpPr>
        <p:spPr>
          <a:xfrm>
            <a:off x="2953512" y="1965960"/>
            <a:ext cx="109728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53512" y="1965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53512" y="26974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Nombre de la referencia</a:t>
            </a:r>
            <a:endParaRPr lang="en-US" sz="1200" dirty="0"/>
          </a:p>
        </p:txBody>
      </p:sp>
      <p:sp>
        <p:nvSpPr>
          <p:cNvPr id="11" name="parte-3"/>
          <p:cNvSpPr/>
          <p:nvPr/>
        </p:nvSpPr>
        <p:spPr>
          <a:xfrm>
            <a:off x="4306824" y="196596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06824" y="1965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new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06824" y="26974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 el objeto en memoria</a:t>
            </a:r>
            <a:endParaRPr lang="en-US" sz="1200" dirty="0"/>
          </a:p>
        </p:txBody>
      </p:sp>
      <p:sp>
        <p:nvSpPr>
          <p:cNvPr id="14" name="parte-4"/>
          <p:cNvSpPr/>
          <p:nvPr/>
        </p:nvSpPr>
        <p:spPr>
          <a:xfrm>
            <a:off x="6025896" y="1965960"/>
            <a:ext cx="25146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25896" y="1965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Estudiante();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025896" y="2697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Constructor: arma el objeto nuevo</a:t>
            </a:r>
            <a:endParaRPr lang="en-US" sz="1200" dirty="0"/>
          </a:p>
        </p:txBody>
      </p:sp>
      <p:sp>
        <p:nvSpPr>
          <p:cNvPr id="17" name="nota-instancia"/>
          <p:cNvSpPr/>
          <p:nvPr/>
        </p:nvSpPr>
        <p:spPr>
          <a:xfrm>
            <a:off x="594360" y="3520440"/>
            <a:ext cx="7955280" cy="96012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6118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 lee así: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“crea un nuevo Estudiante y guárdalo en a”. Cada vez que se escribe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aparece un objeto distinto, aunque sea de la misma clase.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2.5 · Instancias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 operador punto</a:t>
            </a:r>
            <a:endParaRPr lang="en-US" sz="2600" dirty="0"/>
          </a:p>
        </p:txBody>
      </p:sp>
      <p:sp>
        <p:nvSpPr>
          <p:cNvPr id="4" name="definicion"/>
          <p:cNvSpPr txBox="1"/>
          <p:nvPr/>
        </p:nvSpPr>
        <p:spPr>
          <a:xfrm>
            <a:off x="594360" y="10789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 el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punto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se entra a un objeto para usar sus atributos y métodos: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objeto.atributo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o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objeto.metodo()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5" name="codigo-fondo"/>
          <p:cNvSpPr/>
          <p:nvPr/>
        </p:nvSpPr>
        <p:spPr>
          <a:xfrm>
            <a:off x="594360" y="1600200"/>
            <a:ext cx="4754880" cy="23317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codigo"/>
          <p:cNvSpPr txBox="1"/>
          <p:nvPr/>
        </p:nvSpPr>
        <p:spPr>
          <a:xfrm>
            <a:off x="640080" y="1600200"/>
            <a:ext cx="4663440" cy="233172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Asignar valores (escribir)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8.7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Leer valores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: 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7" name="salida-fondo"/>
          <p:cNvSpPr/>
          <p:nvPr/>
        </p:nvSpPr>
        <p:spPr>
          <a:xfrm>
            <a:off x="5577840" y="1600200"/>
            <a:ext cx="2971800" cy="73152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87568" y="1655064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Salida en consola</a:t>
            </a:r>
            <a:endParaRPr lang="en-US" sz="1000" dirty="0"/>
          </a:p>
        </p:txBody>
      </p:sp>
      <p:sp>
        <p:nvSpPr>
          <p:cNvPr id="9" name="salida"/>
          <p:cNvSpPr txBox="1"/>
          <p:nvPr/>
        </p:nvSpPr>
        <p:spPr>
          <a:xfrm>
            <a:off x="5687568" y="1911096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: 8.7</a:t>
            </a:r>
            <a:endParaRPr lang="en-US" sz="1200" dirty="0"/>
          </a:p>
        </p:txBody>
      </p:sp>
      <p:sp>
        <p:nvSpPr>
          <p:cNvPr id="10" name="lectura"/>
          <p:cNvSpPr/>
          <p:nvPr/>
        </p:nvSpPr>
        <p:spPr>
          <a:xfrm>
            <a:off x="5577840" y="2514600"/>
            <a:ext cx="2971800" cy="141732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15000" y="260604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a.nombre = "Ana";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Guarda "Ana" en el atributo nombre del objeto a.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a.nombre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Lee el valor que tiene ahora.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114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Es como decir “el nombre de a”, “la edad de a”.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2.5 · Instancias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Una clase, muchas instancias</a:t>
            </a:r>
            <a:endParaRPr lang="en-US" sz="2600" dirty="0"/>
          </a:p>
        </p:txBody>
      </p:sp>
      <p:sp>
        <p:nvSpPr>
          <p:cNvPr id="4" name="uml-Estudiante"/>
          <p:cNvSpPr/>
          <p:nvPr/>
        </p:nvSpPr>
        <p:spPr>
          <a:xfrm>
            <a:off x="594360" y="1600200"/>
            <a:ext cx="2377440" cy="32918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Estudiante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929384"/>
            <a:ext cx="2377440" cy="76809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75104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nombre: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edad: 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promedio: double</a:t>
            </a:r>
            <a:endParaRPr lang="en-US" sz="1200" dirty="0"/>
          </a:p>
        </p:txBody>
      </p:sp>
      <p:sp>
        <p:nvSpPr>
          <p:cNvPr id="8" name="objeto-ana : Estudiante"/>
          <p:cNvSpPr/>
          <p:nvPr/>
        </p:nvSpPr>
        <p:spPr>
          <a:xfrm>
            <a:off x="5120640" y="1143000"/>
            <a:ext cx="274320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1188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: Estudiante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472184"/>
            <a:ext cx="2560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"Ana"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19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8.7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V="1">
            <a:off x="3017520" y="1600200"/>
            <a:ext cx="2057400" cy="5486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12" name="objeto-luis : Estudiante"/>
          <p:cNvSpPr/>
          <p:nvPr/>
        </p:nvSpPr>
        <p:spPr>
          <a:xfrm>
            <a:off x="5120640" y="2258568"/>
            <a:ext cx="274320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luis : Estudiante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587752"/>
            <a:ext cx="2560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"Luis"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9.1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148840"/>
            <a:ext cx="2057400" cy="56692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16" name="objeto-maria : Estudiante"/>
          <p:cNvSpPr/>
          <p:nvPr/>
        </p:nvSpPr>
        <p:spPr>
          <a:xfrm>
            <a:off x="5120640" y="3374136"/>
            <a:ext cx="2743200" cy="1024128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3419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maria : Estudiante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703320"/>
            <a:ext cx="2560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"María"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18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7.5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2148840"/>
            <a:ext cx="2057400" cy="168249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324612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instancia de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33756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En la vida real: una misma ficha de matrícula, muchos estudiantes matriculados. Cada objeto tiene los mismos atributos, con sus propios valores.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2.5 · Instancias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Resolviendo el problema de los 5 estudiantes</a:t>
            </a:r>
            <a:endParaRPr lang="en-US" sz="2600" dirty="0"/>
          </a:p>
        </p:txBody>
      </p:sp>
      <p:sp>
        <p:nvSpPr>
          <p:cNvPr id="4" name="codigo-fondo"/>
          <p:cNvSpPr/>
          <p:nvPr/>
        </p:nvSpPr>
        <p:spPr>
          <a:xfrm>
            <a:off x="594360" y="1143000"/>
            <a:ext cx="4892040" cy="28803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codigo"/>
          <p:cNvSpPr txBox="1"/>
          <p:nvPr/>
        </p:nvSpPr>
        <p:spPr>
          <a:xfrm>
            <a:off x="640080" y="1143000"/>
            <a:ext cx="4800600" cy="288036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8.7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"Luis"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9.1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"María"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e4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e4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"Pedro"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e4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"Sofía"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9.4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: 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igual para e2, e3, e4 y e5</a:t>
            </a:r>
            <a:endParaRPr lang="en-US" sz="1100" dirty="0"/>
          </a:p>
        </p:txBody>
      </p:sp>
      <p:sp>
        <p:nvSpPr>
          <p:cNvPr id="6" name="salida-fondo"/>
          <p:cNvSpPr/>
          <p:nvPr/>
        </p:nvSpPr>
        <p:spPr>
          <a:xfrm>
            <a:off x="5715000" y="1143000"/>
            <a:ext cx="2834640" cy="1691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24728" y="119786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Salida en consola</a:t>
            </a:r>
            <a:endParaRPr lang="en-US" sz="1000" dirty="0"/>
          </a:p>
        </p:txBody>
      </p:sp>
      <p:sp>
        <p:nvSpPr>
          <p:cNvPr id="8" name="salida"/>
          <p:cNvSpPr txBox="1"/>
          <p:nvPr/>
        </p:nvSpPr>
        <p:spPr>
          <a:xfrm>
            <a:off x="5824728" y="1453896"/>
            <a:ext cx="26151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: 8.7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Luis : 9.1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María : 7.5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Pedro : 6.8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Sofía : 9.4</a:t>
            </a:r>
            <a:endParaRPr lang="en-US" sz="1200" dirty="0"/>
          </a:p>
        </p:txBody>
      </p:sp>
      <p:sp>
        <p:nvSpPr>
          <p:cNvPr id="9" name="ventaja"/>
          <p:cNvSpPr/>
          <p:nvPr/>
        </p:nvSpPr>
        <p:spPr>
          <a:xfrm>
            <a:off x="5715000" y="2971800"/>
            <a:ext cx="2834640" cy="105156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30175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Ahora el nombre y el promedio de cada estudiante viajan juntos dentro de un mismo objeto.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1330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Si mañana se agrega la edad, se añade una sola línea en la clase y todos los objetos la tienen.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2.5 · Instancias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Práctica 2.5: instancias</a:t>
            </a:r>
            <a:endParaRPr lang="en-US" sz="2600" dirty="0"/>
          </a:p>
        </p:txBody>
      </p:sp>
      <p:sp>
        <p:nvSpPr>
          <p:cNvPr id="4" name="ejercicio-2.5-1"/>
          <p:cNvSpPr/>
          <p:nvPr/>
        </p:nvSpPr>
        <p:spPr>
          <a:xfrm>
            <a:off x="594360" y="1188720"/>
            <a:ext cx="7955280" cy="12344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298448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Ejercicio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main, crea una instancia de Estudiante, asígnale nombre y promedio e imprímela con el formato nombre : promedio.</a:t>
            </a:r>
            <a:endParaRPr lang="en-US" sz="1500" dirty="0"/>
          </a:p>
        </p:txBody>
      </p:sp>
      <p:sp>
        <p:nvSpPr>
          <p:cNvPr id="8" name="ejercicio-2.5-2"/>
          <p:cNvSpPr/>
          <p:nvPr/>
        </p:nvSpPr>
        <p:spPr>
          <a:xfrm>
            <a:off x="594360" y="2560320"/>
            <a:ext cx="7955280" cy="12344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43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70048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Continúa el ejercicio anterior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Amplíalo a 5 instancias y muestra los 5 estudiantes uno debajo de otro, resolviendo el problema del tema 2.1.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0233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En la computadora y sin IA. Antes de ejecutar, escribe la salida que esperas.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2.6 · Referencias y memoria viva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Referencias y objetos en memoria</a:t>
            </a:r>
            <a:endParaRPr lang="en-US" sz="2600" dirty="0"/>
          </a:p>
        </p:txBody>
      </p:sp>
      <p:sp>
        <p:nvSpPr>
          <p:cNvPr id="4" name="codigo-fondo"/>
          <p:cNvSpPr/>
          <p:nvPr/>
        </p:nvSpPr>
        <p:spPr>
          <a:xfrm>
            <a:off x="594360" y="1097280"/>
            <a:ext cx="2834640" cy="25146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codigo"/>
          <p:cNvSpPr txBox="1"/>
          <p:nvPr/>
        </p:nvSpPr>
        <p:spPr>
          <a:xfrm>
            <a:off x="640080" y="1097280"/>
            <a:ext cx="2743200" cy="251460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8.7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8.7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usa new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9.5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6" name="salida-fondo"/>
          <p:cNvSpPr/>
          <p:nvPr/>
        </p:nvSpPr>
        <p:spPr>
          <a:xfrm>
            <a:off x="3566160" y="1097280"/>
            <a:ext cx="914400" cy="11430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75888" y="115214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Salida</a:t>
            </a:r>
            <a:endParaRPr lang="en-US" sz="1000" dirty="0"/>
          </a:p>
        </p:txBody>
      </p:sp>
      <p:sp>
        <p:nvSpPr>
          <p:cNvPr id="8" name="salida"/>
          <p:cNvSpPr txBox="1"/>
          <p:nvPr/>
        </p:nvSpPr>
        <p:spPr>
          <a:xfrm>
            <a:off x="3675888" y="1408176"/>
            <a:ext cx="6949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  <p:sp>
        <p:nvSpPr>
          <p:cNvPr id="9" name="ref-a"/>
          <p:cNvSpPr/>
          <p:nvPr/>
        </p:nvSpPr>
        <p:spPr>
          <a:xfrm>
            <a:off x="4892040" y="1417320"/>
            <a:ext cx="548640" cy="45720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ref-c"/>
          <p:cNvSpPr/>
          <p:nvPr/>
        </p:nvSpPr>
        <p:spPr>
          <a:xfrm>
            <a:off x="4892040" y="2148840"/>
            <a:ext cx="548640" cy="45720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ref-b"/>
          <p:cNvSpPr/>
          <p:nvPr/>
        </p:nvSpPr>
        <p:spPr>
          <a:xfrm>
            <a:off x="4892040" y="3337560"/>
            <a:ext cx="548640" cy="45720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objeto-Objeto 1"/>
          <p:cNvSpPr/>
          <p:nvPr/>
        </p:nvSpPr>
        <p:spPr>
          <a:xfrm>
            <a:off x="6400800" y="1463040"/>
            <a:ext cx="205740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5087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 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792224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9.5</a:t>
            </a:r>
            <a:endParaRPr lang="en-US" sz="1200" dirty="0"/>
          </a:p>
        </p:txBody>
      </p:sp>
      <p:sp>
        <p:nvSpPr>
          <p:cNvPr id="18" name="objeto-Objeto 2"/>
          <p:cNvSpPr/>
          <p:nvPr/>
        </p:nvSpPr>
        <p:spPr>
          <a:xfrm>
            <a:off x="6400800" y="3246120"/>
            <a:ext cx="205740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291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 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575304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8.7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40680" y="1645920"/>
            <a:ext cx="941832" cy="914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5440680" y="1874520"/>
            <a:ext cx="941832" cy="5029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40680" y="3566160"/>
            <a:ext cx="941832" cy="91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66344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Referencias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1097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Objetos</a:t>
            </a:r>
            <a:endParaRPr lang="en-US" sz="1100" dirty="0"/>
          </a:p>
        </p:txBody>
      </p:sp>
      <p:sp>
        <p:nvSpPr>
          <p:cNvPr id="26" name="clave-ref"/>
          <p:cNvSpPr/>
          <p:nvPr/>
        </p:nvSpPr>
        <p:spPr>
          <a:xfrm>
            <a:off x="4663440" y="3977640"/>
            <a:ext cx="3886200" cy="548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39776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no copia el objeto: copia la flecha.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y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apuntan al mismo objeto.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Tema 2.6 · Referencias y memoria viva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Práctica 2.6: memoria viva</a:t>
            </a:r>
            <a:endParaRPr lang="en-US" sz="2600" dirty="0"/>
          </a:p>
        </p:txBody>
      </p:sp>
      <p:sp>
        <p:nvSpPr>
          <p:cNvPr id="4" name="ejercicio-2.6-1"/>
          <p:cNvSpPr/>
          <p:nvPr/>
        </p:nvSpPr>
        <p:spPr>
          <a:xfrm>
            <a:off x="594360" y="1188720"/>
            <a:ext cx="7955280" cy="12344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298448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Ejercicio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 2 estudiantes como objetos (a y b) y 2 como referencias, representa a.promedio = 9; y di qué cartel cambia.</a:t>
            </a:r>
            <a:endParaRPr lang="en-US" sz="1500" dirty="0"/>
          </a:p>
        </p:txBody>
      </p:sp>
      <p:sp>
        <p:nvSpPr>
          <p:cNvPr id="8" name="ejercicio-2.6-2"/>
          <p:cNvSpPr/>
          <p:nvPr/>
        </p:nvSpPr>
        <p:spPr>
          <a:xfrm>
            <a:off x="594360" y="2560320"/>
            <a:ext cx="7955280" cy="12344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43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70048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Continúa el ejercicio anterior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Continúa con Estudiante c = a; y c.promedio = 6; y responde qué promedio tiene ahora a y por qué.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0233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Actividad grupal en el aula, con carteles. Luego se comprueba en la computadora.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Antes de los pilares · Métodos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Métodos: lo que el objeto sabe hacer</a:t>
            </a:r>
            <a:endParaRPr lang="en-US" sz="2600" dirty="0"/>
          </a:p>
        </p:txBody>
      </p:sp>
      <p:sp>
        <p:nvSpPr>
          <p:cNvPr id="4" name="definicion"/>
          <p:cNvSpPr txBox="1"/>
          <p:nvPr/>
        </p:nvSpPr>
        <p:spPr>
          <a:xfrm>
            <a:off x="594360" y="107899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método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es una acción que puede realizar un objeto. Se escribe dentro de la clase y puede usar y cambiar los atributos de ese objeto.</a:t>
            </a:r>
            <a:endParaRPr lang="en-US" sz="1500" dirty="0"/>
          </a:p>
        </p:txBody>
      </p:sp>
      <p:sp>
        <p:nvSpPr>
          <p:cNvPr id="5" name="codigo-fondo"/>
          <p:cNvSpPr/>
          <p:nvPr/>
        </p:nvSpPr>
        <p:spPr>
          <a:xfrm>
            <a:off x="594360" y="1783080"/>
            <a:ext cx="4023360" cy="2697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codigo"/>
          <p:cNvSpPr txBox="1"/>
          <p:nvPr/>
        </p:nvSpPr>
        <p:spPr>
          <a:xfrm>
            <a:off x="640080" y="1783080"/>
            <a:ext cx="3931920" cy="269748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velocidad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acelerar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velocidad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velocidad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frenar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velocidad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codigo-fondo"/>
          <p:cNvSpPr/>
          <p:nvPr/>
        </p:nvSpPr>
        <p:spPr>
          <a:xfrm>
            <a:off x="4846320" y="1783080"/>
            <a:ext cx="3703320" cy="16916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codigo"/>
          <p:cNvSpPr txBox="1"/>
          <p:nvPr/>
        </p:nvSpPr>
        <p:spPr>
          <a:xfrm>
            <a:off x="4892040" y="1783080"/>
            <a:ext cx="3611880" cy="169164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miAuto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miAuto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"Chevrolet"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miAuto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acelerar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miAuto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acelerar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miAuto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velocidad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miAuto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frenar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miAuto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velocidad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9" name="salida-fondo"/>
          <p:cNvSpPr/>
          <p:nvPr/>
        </p:nvSpPr>
        <p:spPr>
          <a:xfrm>
            <a:off x="4846320" y="3611880"/>
            <a:ext cx="3703320" cy="8686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6048" y="3666744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Salida en consola</a:t>
            </a:r>
            <a:endParaRPr lang="en-US" sz="1000" dirty="0"/>
          </a:p>
        </p:txBody>
      </p:sp>
      <p:sp>
        <p:nvSpPr>
          <p:cNvPr id="11" name="salida"/>
          <p:cNvSpPr txBox="1"/>
          <p:nvPr/>
        </p:nvSpPr>
        <p:spPr>
          <a:xfrm>
            <a:off x="4956048" y="3922776"/>
            <a:ext cx="34838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Los 4 pilares de la POO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Los 4 pilares de la POO</a:t>
            </a:r>
            <a:endParaRPr lang="en-US" sz="34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ideas que hacen que la POO funcione</a:t>
            </a:r>
            <a:endParaRPr lang="en-US" sz="1600" dirty="0"/>
          </a:p>
        </p:txBody>
      </p:sp>
      <p:sp>
        <p:nvSpPr>
          <p:cNvPr id="5" name="icono-FaFilter"/>
          <p:cNvSpPr/>
          <p:nvPr/>
        </p:nvSpPr>
        <p:spPr>
          <a:xfrm>
            <a:off x="1371600" y="26060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Fil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830" y="2849270"/>
            <a:ext cx="382219" cy="3822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611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Abstracción</a:t>
            </a:r>
            <a:endParaRPr lang="en-US" sz="1500" dirty="0"/>
          </a:p>
        </p:txBody>
      </p:sp>
      <p:sp>
        <p:nvSpPr>
          <p:cNvPr id="8" name="icono-FaLock"/>
          <p:cNvSpPr/>
          <p:nvPr/>
        </p:nvSpPr>
        <p:spPr>
          <a:xfrm>
            <a:off x="3246120" y="260604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Fa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350" y="2849270"/>
            <a:ext cx="382219" cy="38221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788920" y="3611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Encapsulamiento</a:t>
            </a:r>
            <a:endParaRPr lang="en-US" sz="1500" dirty="0"/>
          </a:p>
        </p:txBody>
      </p:sp>
      <p:sp>
        <p:nvSpPr>
          <p:cNvPr id="11" name="icono-FaSitemap"/>
          <p:cNvSpPr/>
          <p:nvPr/>
        </p:nvSpPr>
        <p:spPr>
          <a:xfrm>
            <a:off x="5120640" y="26060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FaSitem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870" y="2849270"/>
            <a:ext cx="382219" cy="38221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63440" y="3611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Herencia</a:t>
            </a:r>
            <a:endParaRPr lang="en-US" sz="1500" dirty="0"/>
          </a:p>
        </p:txBody>
      </p:sp>
      <p:sp>
        <p:nvSpPr>
          <p:cNvPr id="14" name="icono-FaTheaterMasks"/>
          <p:cNvSpPr/>
          <p:nvPr/>
        </p:nvSpPr>
        <p:spPr>
          <a:xfrm>
            <a:off x="6995160" y="260604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3" descr="FaTheaterMas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0" y="2849270"/>
            <a:ext cx="382219" cy="38221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537960" y="3611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Polimorfismo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Los 4 pilares de la POO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 Abstracción</a:t>
            </a:r>
            <a:endParaRPr lang="en-US" sz="2600" dirty="0"/>
          </a:p>
        </p:txBody>
      </p:sp>
      <p:sp>
        <p:nvSpPr>
          <p:cNvPr id="4" name="definicion"/>
          <p:cNvSpPr txBox="1"/>
          <p:nvPr/>
        </p:nvSpPr>
        <p:spPr>
          <a:xfrm>
            <a:off x="594360" y="107899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Abstraer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es quedarse solo con las características y acciones que importan para resolver el problema, e ignorar los detalles que no hacen falta.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4480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Cómo se usa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 diseñar una clase decides qué atributos y qué métodos poner. Lo que no sirve al problema, no entra.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 la vida real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Usas el control remoto con sus botones sin saber cómo están hechos sus circuitos. Conduces un auto con volante y pedales sin conocer el motor por dentro.</a:t>
            </a:r>
            <a:endParaRPr lang="en-US" sz="1400" dirty="0"/>
          </a:p>
        </p:txBody>
      </p:sp>
      <p:sp>
        <p:nvSpPr>
          <p:cNvPr id="6" name="control-remoto"/>
          <p:cNvSpPr/>
          <p:nvPr/>
        </p:nvSpPr>
        <p:spPr>
          <a:xfrm>
            <a:off x="5349240" y="1783080"/>
            <a:ext cx="3200400" cy="26974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icono-FaTv"/>
          <p:cNvSpPr/>
          <p:nvPr/>
        </p:nvSpPr>
        <p:spPr>
          <a:xfrm>
            <a:off x="5532120" y="190195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FaT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5739" y="2055571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17920" y="19019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El control remoto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256032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Lo que necesitas ver: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encender, volumen, cambiar de canal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Lo que se esconde: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circuitos, señal infrarroja, código interno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Los 4 pilares de la POO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Abstracción: el mismo objeto, distintos problemas</a:t>
            </a:r>
            <a:endParaRPr lang="en-US" sz="2600" dirty="0"/>
          </a:p>
        </p:txBody>
      </p:sp>
      <p:sp>
        <p:nvSpPr>
          <p:cNvPr id="4" name="definicion"/>
          <p:cNvSpPr txBox="1"/>
          <p:nvPr/>
        </p:nvSpPr>
        <p:spPr>
          <a:xfrm>
            <a:off x="594360" y="107899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persona tiene cientos de características. Cada sistema se queda solo con las que necesita:</a:t>
            </a:r>
            <a:endParaRPr lang="en-US" sz="1400" dirty="0"/>
          </a:p>
        </p:txBody>
      </p:sp>
      <p:graphicFrame>
        <p:nvGraphicFramePr>
          <p:cNvPr id="27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7955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académico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Consultorio médico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Gimnasio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Estudiante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Paciente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Socio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nombre, cédula, carrera, promedio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nombre, cédula, tipo de sangre, alergias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nombre, peso, estatura, 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matricularse(), verNotas()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agendarCita(), verHistorial()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registrarIngreso(), pagarMensualidad()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le interesa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sangre, peso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carrera, promedio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carrera, alergias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En Java la abstracción se ve en la clase que escribes: solo pones los atributos y métodos que el problema necesita.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Los 4 pilares de la POO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 Encapsulamiento</a:t>
            </a:r>
            <a:endParaRPr lang="en-US" sz="2600" dirty="0"/>
          </a:p>
        </p:txBody>
      </p:sp>
      <p:sp>
        <p:nvSpPr>
          <p:cNvPr id="4" name="definicion"/>
          <p:cNvSpPr txBox="1"/>
          <p:nvPr/>
        </p:nvSpPr>
        <p:spPr>
          <a:xfrm>
            <a:off x="594360" y="107899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Encapsular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es proteger los datos de un objeto para que solo se puedan leer o cambiar a través de sus métodos, que controlan que los cambios sean válidos.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4480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Cómo se usa en Java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atributos se declaran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y se ofrecen métodos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para usarlos, por ejemplo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getSaldo()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para leer y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depositar()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para cambiar.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 la vida real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un cajero automático no tocas el dinero de la bóveda: pides retirar y el cajero revisa tu clave y tu saldo antes de entregarte nada.</a:t>
            </a:r>
            <a:endParaRPr lang="en-US" sz="1400" dirty="0"/>
          </a:p>
        </p:txBody>
      </p:sp>
      <p:sp>
        <p:nvSpPr>
          <p:cNvPr id="6" name="flujo-1"/>
          <p:cNvSpPr/>
          <p:nvPr/>
        </p:nvSpPr>
        <p:spPr>
          <a:xfrm>
            <a:off x="5349240" y="1783080"/>
            <a:ext cx="320040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pides retirar 20 dólares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2514600"/>
            <a:ext cx="914" cy="201168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flujo-2"/>
          <p:cNvSpPr/>
          <p:nvPr/>
        </p:nvSpPr>
        <p:spPr>
          <a:xfrm>
            <a:off x="5349240" y="2715768"/>
            <a:ext cx="320040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0" y="27614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El cajero (método)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revisa clave y saldo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3447288"/>
            <a:ext cx="914" cy="201168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flujo-3"/>
          <p:cNvSpPr/>
          <p:nvPr/>
        </p:nvSpPr>
        <p:spPr>
          <a:xfrm>
            <a:off x="5349240" y="3648456"/>
            <a:ext cx="320040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369417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La bóveda (atributo private)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solo la toca el cajero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Los 4 pilares de la POO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Encapsulamiento en Java</a:t>
            </a:r>
            <a:endParaRPr lang="en-US" sz="2600" dirty="0"/>
          </a:p>
        </p:txBody>
      </p:sp>
      <p:sp>
        <p:nvSpPr>
          <p:cNvPr id="4" name="codigo-fondo"/>
          <p:cNvSpPr/>
          <p:nvPr/>
        </p:nvSpPr>
        <p:spPr>
          <a:xfrm>
            <a:off x="594360" y="1143000"/>
            <a:ext cx="4114800" cy="2697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codigo"/>
          <p:cNvSpPr txBox="1"/>
          <p:nvPr/>
        </p:nvSpPr>
        <p:spPr>
          <a:xfrm>
            <a:off x="640080" y="1143000"/>
            <a:ext cx="4023360" cy="269748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CuentaBancaria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depositar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getSaldo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codigo-fondo"/>
          <p:cNvSpPr/>
          <p:nvPr/>
        </p:nvSpPr>
        <p:spPr>
          <a:xfrm>
            <a:off x="4892040" y="1143000"/>
            <a:ext cx="3657600" cy="1600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codigo"/>
          <p:cNvSpPr txBox="1"/>
          <p:nvPr/>
        </p:nvSpPr>
        <p:spPr>
          <a:xfrm>
            <a:off x="4937760" y="1143000"/>
            <a:ext cx="3566160" cy="160020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CuentaBancaria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CuentaBancaria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depositar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depositar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6897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 ignora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getSaldo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cuenta.saldo = -500;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saldo has private access</a:t>
            </a:r>
            <a:endParaRPr lang="en-US" sz="1000" dirty="0"/>
          </a:p>
        </p:txBody>
      </p:sp>
      <p:sp>
        <p:nvSpPr>
          <p:cNvPr id="8" name="salida-fondo"/>
          <p:cNvSpPr/>
          <p:nvPr/>
        </p:nvSpPr>
        <p:spPr>
          <a:xfrm>
            <a:off x="4892040" y="2834640"/>
            <a:ext cx="1463040" cy="6858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01768" y="288950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Salida en consola</a:t>
            </a:r>
            <a:endParaRPr lang="en-US" sz="1000" dirty="0"/>
          </a:p>
        </p:txBody>
      </p:sp>
      <p:sp>
        <p:nvSpPr>
          <p:cNvPr id="10" name="salida"/>
          <p:cNvSpPr txBox="1"/>
          <p:nvPr/>
        </p:nvSpPr>
        <p:spPr>
          <a:xfrm>
            <a:off x="5001768" y="3145536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</a:t>
            </a:r>
            <a:endParaRPr lang="en-US" sz="1200" dirty="0"/>
          </a:p>
        </p:txBody>
      </p:sp>
      <p:graphicFrame>
        <p:nvGraphicFramePr>
          <p:cNvPr id="2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834640"/>
          <a:ext cx="2057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43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puede usar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private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en su clase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cualquier clase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94360" y="40233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También existen protected y el acceso sin modificador, que se verán más adelante.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Los 4 pilares de la POO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 Herencia</a:t>
            </a:r>
            <a:endParaRPr lang="en-US" sz="2600" dirty="0"/>
          </a:p>
        </p:txBody>
      </p:sp>
      <p:sp>
        <p:nvSpPr>
          <p:cNvPr id="4" name="definicion"/>
          <p:cNvSpPr txBox="1"/>
          <p:nvPr/>
        </p:nvSpPr>
        <p:spPr>
          <a:xfrm>
            <a:off x="594360" y="107899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herencia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permite crear una clase nueva a partir de otra. La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clase hija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(subclase) recibe los atributos y métodos de la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clase padre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(superclase) y agrega los suyos.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Cómo se usa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usa cuando hay una relación “es un”: un Estudiante es una Persona. En Java se escribe con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 la vida real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la universidad, estudiantes y profesores son personas: todos tienen nombre y cédula. Además, el estudiante tiene carrera y el profesor tiene título.</a:t>
            </a:r>
            <a:endParaRPr lang="en-US" sz="1400" dirty="0"/>
          </a:p>
        </p:txBody>
      </p:sp>
      <p:sp>
        <p:nvSpPr>
          <p:cNvPr id="6" name="uml-Persona"/>
          <p:cNvSpPr/>
          <p:nvPr/>
        </p:nvSpPr>
        <p:spPr>
          <a:xfrm>
            <a:off x="5623560" y="1783080"/>
            <a:ext cx="2194560" cy="32918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23560" y="17830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Persona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23560" y="2112264"/>
            <a:ext cx="219456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15000" y="21579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cedula</a:t>
            </a:r>
            <a:endParaRPr lang="en-US" sz="1200" dirty="0"/>
          </a:p>
        </p:txBody>
      </p:sp>
      <p:sp>
        <p:nvSpPr>
          <p:cNvPr id="10" name="uml-Estudiante"/>
          <p:cNvSpPr/>
          <p:nvPr/>
        </p:nvSpPr>
        <p:spPr>
          <a:xfrm>
            <a:off x="4846320" y="3429000"/>
            <a:ext cx="1691640" cy="32918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34290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Estudiante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758184"/>
            <a:ext cx="1691640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380390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</a:t>
            </a:r>
            <a:endParaRPr lang="en-US" sz="1200" dirty="0"/>
          </a:p>
        </p:txBody>
      </p:sp>
      <p:sp>
        <p:nvSpPr>
          <p:cNvPr id="14" name="uml-Profesor"/>
          <p:cNvSpPr/>
          <p:nvPr/>
        </p:nvSpPr>
        <p:spPr>
          <a:xfrm>
            <a:off x="6858000" y="3429000"/>
            <a:ext cx="1691640" cy="32918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34290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Profesor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3758184"/>
            <a:ext cx="1691640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380390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V="1">
            <a:off x="5687568" y="2670048"/>
            <a:ext cx="576072" cy="74066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 flipV="1">
            <a:off x="7178040" y="2670048"/>
            <a:ext cx="521208" cy="74066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17220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hereda 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Los 4 pilares de la POO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Herencia en Java: extends</a:t>
            </a:r>
            <a:endParaRPr lang="en-US" sz="2600" dirty="0"/>
          </a:p>
        </p:txBody>
      </p:sp>
      <p:sp>
        <p:nvSpPr>
          <p:cNvPr id="4" name="codigo-fondo"/>
          <p:cNvSpPr/>
          <p:nvPr/>
        </p:nvSpPr>
        <p:spPr>
          <a:xfrm>
            <a:off x="594360" y="1143000"/>
            <a:ext cx="4206240" cy="28346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codigo"/>
          <p:cNvSpPr txBox="1"/>
          <p:nvPr/>
        </p:nvSpPr>
        <p:spPr>
          <a:xfrm>
            <a:off x="640080" y="1143000"/>
            <a:ext cx="4114800" cy="283464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cedula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"Hola, soy "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</a:t>
            </a:r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codigo-fondo"/>
          <p:cNvSpPr/>
          <p:nvPr/>
        </p:nvSpPr>
        <p:spPr>
          <a:xfrm>
            <a:off x="4983480" y="1143000"/>
            <a:ext cx="3566160" cy="10972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codigo"/>
          <p:cNvSpPr txBox="1"/>
          <p:nvPr/>
        </p:nvSpPr>
        <p:spPr>
          <a:xfrm>
            <a:off x="5029200" y="1143000"/>
            <a:ext cx="3474720" cy="109728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buNone/>
            </a:pPr>
            <a:r>
              <a:rPr lang="en-US" sz="105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heredado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"Software"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propio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05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5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heredado</a:t>
            </a:r>
            <a:endParaRPr lang="en-US" sz="1050" dirty="0"/>
          </a:p>
        </p:txBody>
      </p:sp>
      <p:sp>
        <p:nvSpPr>
          <p:cNvPr id="8" name="salida-fondo"/>
          <p:cNvSpPr/>
          <p:nvPr/>
        </p:nvSpPr>
        <p:spPr>
          <a:xfrm>
            <a:off x="4983480" y="2331720"/>
            <a:ext cx="3566160" cy="6400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93208" y="2386584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Salida en consola</a:t>
            </a:r>
            <a:endParaRPr lang="en-US" sz="1000" dirty="0"/>
          </a:p>
        </p:txBody>
      </p:sp>
      <p:sp>
        <p:nvSpPr>
          <p:cNvPr id="10" name="salida"/>
          <p:cNvSpPr txBox="1"/>
          <p:nvPr/>
        </p:nvSpPr>
        <p:spPr>
          <a:xfrm>
            <a:off x="5093208" y="264261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Hola, soy Ana</a:t>
            </a:r>
            <a:endParaRPr lang="en-US" sz="1200" dirty="0"/>
          </a:p>
        </p:txBody>
      </p:sp>
      <p:sp>
        <p:nvSpPr>
          <p:cNvPr id="11" name="reglas-herencia"/>
          <p:cNvSpPr/>
          <p:nvPr/>
        </p:nvSpPr>
        <p:spPr>
          <a:xfrm>
            <a:off x="4983480" y="3108960"/>
            <a:ext cx="3566160" cy="13716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3182112"/>
            <a:ext cx="3337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 Java una clase solo puede heredar de una clase padre.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 que es private en la clase padre no se usa directamente en la hija.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Toda clase hereda de Object, aunque no se escriba.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Cada clase pública va en su propio archivo .java.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Los 4 pilares de la POO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 Polimorfismo</a:t>
            </a:r>
            <a:endParaRPr lang="en-US" sz="2600" dirty="0"/>
          </a:p>
        </p:txBody>
      </p:sp>
      <p:sp>
        <p:nvSpPr>
          <p:cNvPr id="4" name="definicion"/>
          <p:cNvSpPr txBox="1"/>
          <p:nvPr/>
        </p:nvSpPr>
        <p:spPr>
          <a:xfrm>
            <a:off x="594360" y="107899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Polimorfismo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significa “muchas formas”: el mismo mensaje, es decir, llamar al mismo método, produce un comportamiento distinto según el objeto que lo recibe.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4206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Cómo se usa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clase padre define un método y cada hija lo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sobrescribe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con su propia versión usando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 la vida real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Presionas el mismo botón “reproducir” y suena una canción, se ve un video o empieza un podcast: la orden es la misma, el resultado depende de qué se reproduce.</a:t>
            </a:r>
            <a:endParaRPr lang="en-US" sz="1400" dirty="0"/>
          </a:p>
        </p:txBody>
      </p:sp>
      <p:sp>
        <p:nvSpPr>
          <p:cNvPr id="6" name="mensaje"/>
          <p:cNvSpPr/>
          <p:nvPr/>
        </p:nvSpPr>
        <p:spPr>
          <a:xfrm>
            <a:off x="5120640" y="1828800"/>
            <a:ext cx="34290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20640" y="18288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hacerSonido()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flipH="1">
            <a:off x="5943600" y="2395728"/>
            <a:ext cx="886968" cy="48463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animal-Perro"/>
          <p:cNvSpPr/>
          <p:nvPr/>
        </p:nvSpPr>
        <p:spPr>
          <a:xfrm>
            <a:off x="5120640" y="2926080"/>
            <a:ext cx="1645920" cy="128016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icono-FaPaw"/>
          <p:cNvSpPr/>
          <p:nvPr/>
        </p:nvSpPr>
        <p:spPr>
          <a:xfrm>
            <a:off x="5687568" y="3017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0" descr="FaPa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8386" y="3158338"/>
            <a:ext cx="221285" cy="22128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120640" y="3566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Perro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“Guau”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30568" y="2395728"/>
            <a:ext cx="896112" cy="48463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animal-Gato"/>
          <p:cNvSpPr/>
          <p:nvPr/>
        </p:nvSpPr>
        <p:spPr>
          <a:xfrm>
            <a:off x="6903720" y="2926080"/>
            <a:ext cx="1645920" cy="128016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icono-FaPaw"/>
          <p:cNvSpPr/>
          <p:nvPr/>
        </p:nvSpPr>
        <p:spPr>
          <a:xfrm>
            <a:off x="7470648" y="30175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1" descr="FaPa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66" y="3158338"/>
            <a:ext cx="221285" cy="22128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903720" y="3566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“Miau”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Los 4 pilares de la POO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Polimorfismo en Java: sobrescritura</a:t>
            </a:r>
            <a:endParaRPr lang="en-US" sz="2600" dirty="0"/>
          </a:p>
        </p:txBody>
      </p:sp>
      <p:sp>
        <p:nvSpPr>
          <p:cNvPr id="4" name="codigo-fondo"/>
          <p:cNvSpPr/>
          <p:nvPr/>
        </p:nvSpPr>
        <p:spPr>
          <a:xfrm>
            <a:off x="594360" y="1143000"/>
            <a:ext cx="4114800" cy="2971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codigo"/>
          <p:cNvSpPr txBox="1"/>
          <p:nvPr/>
        </p:nvSpPr>
        <p:spPr>
          <a:xfrm>
            <a:off x="640080" y="1143000"/>
            <a:ext cx="4023360" cy="297180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hacerSonido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Perro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BB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hacerSonido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"Guau"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Gato igual, con "Miau"</a:t>
            </a:r>
            <a:endParaRPr lang="en-US" sz="1100" dirty="0"/>
          </a:p>
        </p:txBody>
      </p:sp>
      <p:sp>
        <p:nvSpPr>
          <p:cNvPr id="6" name="codigo-fondo"/>
          <p:cNvSpPr/>
          <p:nvPr/>
        </p:nvSpPr>
        <p:spPr>
          <a:xfrm>
            <a:off x="4892040" y="1143000"/>
            <a:ext cx="3657600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codigo"/>
          <p:cNvSpPr txBox="1"/>
          <p:nvPr/>
        </p:nvSpPr>
        <p:spPr>
          <a:xfrm>
            <a:off x="4937760" y="1143000"/>
            <a:ext cx="3566160" cy="100584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Perro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hacerSonido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C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hacerSonido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8" name="salida-fondo"/>
          <p:cNvSpPr/>
          <p:nvPr/>
        </p:nvSpPr>
        <p:spPr>
          <a:xfrm>
            <a:off x="4892040" y="2240280"/>
            <a:ext cx="3657600" cy="8686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01768" y="2295144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Salida en consola</a:t>
            </a:r>
            <a:endParaRPr lang="en-US" sz="1000" dirty="0"/>
          </a:p>
        </p:txBody>
      </p:sp>
      <p:sp>
        <p:nvSpPr>
          <p:cNvPr id="10" name="salida"/>
          <p:cNvSpPr txBox="1"/>
          <p:nvPr/>
        </p:nvSpPr>
        <p:spPr>
          <a:xfrm>
            <a:off x="5001768" y="2551176"/>
            <a:ext cx="3438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Miau</a:t>
            </a:r>
            <a:endParaRPr lang="en-US" sz="1200" dirty="0"/>
          </a:p>
        </p:txBody>
      </p:sp>
      <p:sp>
        <p:nvSpPr>
          <p:cNvPr id="11" name="sobrecarga"/>
          <p:cNvSpPr/>
          <p:nvPr/>
        </p:nvSpPr>
        <p:spPr>
          <a:xfrm>
            <a:off x="4892040" y="3200400"/>
            <a:ext cx="3657600" cy="128016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3273552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También es polimorfismo: la sobrecarga.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Varios métodos con el mismo nombre y distintos parámetros en la misma clase, por ejemplo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area(double radio)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y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area(double base, double altura)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Los 4 pilares de la POO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Los 4 pilares de un vistazo</a:t>
            </a:r>
            <a:endParaRPr lang="en-US" sz="2600" dirty="0"/>
          </a:p>
        </p:txBody>
      </p:sp>
      <p:graphicFrame>
        <p:nvGraphicFramePr>
          <p:cNvPr id="34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88720"/>
          <a:ext cx="79552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103120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 clave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Java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la vida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Quedarse solo con lo importante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Elegir los atributos y métodos de la clase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remoto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Proteger los datos del objeto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private + get / set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Cajero automático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Reutilizar una clase para crear otra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extends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Estudiante y Profesor son Persona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Polimorfismo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Mismo mensaje, distinto 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@Override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Botón reproducir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4114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Los cuatro trabajan juntos: al diseñar una clase se abstrae, se encapsula, y luego se puede heredar y sobrescribir.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Los 4 pilares de la POO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Práctica: los 4 pilares</a:t>
            </a:r>
            <a:endParaRPr lang="en-US" sz="2600" dirty="0"/>
          </a:p>
        </p:txBody>
      </p:sp>
      <p:sp>
        <p:nvSpPr>
          <p:cNvPr id="4" name="pilar-ej-1"/>
          <p:cNvSpPr/>
          <p:nvPr/>
        </p:nvSpPr>
        <p:spPr>
          <a:xfrm>
            <a:off x="594360" y="1143000"/>
            <a:ext cx="3886200" cy="15544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icono-FaFilter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Fil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408176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Abstracción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Haz la lista de atributos de una clase Celular para una tienda que lo vende y para un servicio técnico que lo repara. Explica por qué cambian.</a:t>
            </a:r>
            <a:endParaRPr lang="en-US" sz="1200" dirty="0"/>
          </a:p>
        </p:txBody>
      </p:sp>
      <p:sp>
        <p:nvSpPr>
          <p:cNvPr id="9" name="pilar-ej-2"/>
          <p:cNvSpPr/>
          <p:nvPr/>
        </p:nvSpPr>
        <p:spPr>
          <a:xfrm>
            <a:off x="4663440" y="1143000"/>
            <a:ext cx="3886200" cy="15544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icono-FaLock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Fa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40817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280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Encapsulamiento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 la clase Producto con precio private y un método setPrecio que no acepte valores negativos. Prueba con 2.50 y con -3.</a:t>
            </a:r>
            <a:endParaRPr lang="en-US" sz="1200" dirty="0"/>
          </a:p>
        </p:txBody>
      </p:sp>
      <p:sp>
        <p:nvSpPr>
          <p:cNvPr id="14" name="pilar-ej-3"/>
          <p:cNvSpPr/>
          <p:nvPr/>
        </p:nvSpPr>
        <p:spPr>
          <a:xfrm>
            <a:off x="594360" y="2834640"/>
            <a:ext cx="3886200" cy="15544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icono-FaSitemap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Sitem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09981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Herencia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 la clase Vehiculo (marca, anio) y las hijas Moto (cilindraje) y Camion (capacidadCarga). Crea una instancia de cada una.</a:t>
            </a:r>
            <a:endParaRPr lang="en-US" sz="1200" dirty="0"/>
          </a:p>
        </p:txBody>
      </p:sp>
      <p:sp>
        <p:nvSpPr>
          <p:cNvPr id="19" name="pilar-ej-4"/>
          <p:cNvSpPr/>
          <p:nvPr/>
        </p:nvSpPr>
        <p:spPr>
          <a:xfrm>
            <a:off x="4663440" y="2834640"/>
            <a:ext cx="3886200" cy="155448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icono-FaTheaterMasks"/>
          <p:cNvSpPr/>
          <p:nvPr/>
        </p:nvSpPr>
        <p:spPr>
          <a:xfrm>
            <a:off x="4800600" y="2971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3" descr="FaTheaterMas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09981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9496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Polimorfismo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84632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 la clase Figura con el método describir() y las hijas Circulo y Cuadrado que lo sobrescriban. Llama a describir() en ambas.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Cierre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Clase, objeto, instancia y herencia</a:t>
            </a:r>
            <a:endParaRPr lang="en-US" sz="2600" dirty="0"/>
          </a:p>
        </p:txBody>
      </p:sp>
      <p:graphicFrame>
        <p:nvGraphicFramePr>
          <p:cNvPr id="36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88720"/>
          <a:ext cx="79552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  <a:gridCol w="2103120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que responde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molde que describe atributos y métodos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son y qué hacen todos?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Estudiante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elemento concreto con sus propios valores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¿Cuál es, exactamente?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Ana, 19 años, 8.7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objeto visto como creado a partir de su clase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¿De qué clase salió?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es instancia de Estudiante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relación entre dos clases, no un objeto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¿De qué clase más general viene?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Estudiante hereda de Persona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E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5" name="diferencia-clave"/>
          <p:cNvSpPr/>
          <p:nvPr/>
        </p:nvSpPr>
        <p:spPr>
          <a:xfrm>
            <a:off x="594360" y="3931920"/>
            <a:ext cx="7955280" cy="59436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9319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Clave: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clase y el objeto son “cosas”; la herencia no es una cosa, es la forma en que una clase se conecta con otra.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Cierre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Cómo se relacionan</a:t>
            </a:r>
            <a:endParaRPr lang="en-US" sz="2600" dirty="0"/>
          </a:p>
        </p:txBody>
      </p:sp>
      <p:sp>
        <p:nvSpPr>
          <p:cNvPr id="4" name="uml-Persona"/>
          <p:cNvSpPr/>
          <p:nvPr/>
        </p:nvSpPr>
        <p:spPr>
          <a:xfrm>
            <a:off x="2743200" y="1143000"/>
            <a:ext cx="2194560" cy="32918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0" y="11430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Persona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472184"/>
            <a:ext cx="219456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5179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cedula</a:t>
            </a:r>
            <a:endParaRPr lang="en-US" sz="1200" dirty="0"/>
          </a:p>
        </p:txBody>
      </p:sp>
      <p:sp>
        <p:nvSpPr>
          <p:cNvPr id="8" name="uml-Estudiante"/>
          <p:cNvSpPr/>
          <p:nvPr/>
        </p:nvSpPr>
        <p:spPr>
          <a:xfrm>
            <a:off x="685800" y="2514600"/>
            <a:ext cx="2194560" cy="32918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514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Estudiante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843784"/>
            <a:ext cx="2194560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895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</a:t>
            </a:r>
            <a:endParaRPr lang="en-US" sz="1200" dirty="0"/>
          </a:p>
        </p:txBody>
      </p:sp>
      <p:sp>
        <p:nvSpPr>
          <p:cNvPr id="12" name="uml-Profesor"/>
          <p:cNvSpPr/>
          <p:nvPr/>
        </p:nvSpPr>
        <p:spPr>
          <a:xfrm>
            <a:off x="4800600" y="2514600"/>
            <a:ext cx="2194560" cy="32918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5146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Profesor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2843784"/>
            <a:ext cx="2194560" cy="329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28895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V="1">
            <a:off x="1783080" y="1947672"/>
            <a:ext cx="1508760" cy="5486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 flipV="1">
            <a:off x="4389120" y="1947672"/>
            <a:ext cx="1508760" cy="5486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objeto-ana"/>
          <p:cNvSpPr/>
          <p:nvPr/>
        </p:nvSpPr>
        <p:spPr>
          <a:xfrm>
            <a:off x="594360" y="3611880"/>
            <a:ext cx="187452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94106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 = "Software"</a:t>
            </a:r>
            <a:endParaRPr lang="en-US" sz="1000" dirty="0"/>
          </a:p>
        </p:txBody>
      </p:sp>
      <p:sp>
        <p:nvSpPr>
          <p:cNvPr id="21" name="objeto-luis"/>
          <p:cNvSpPr/>
          <p:nvPr/>
        </p:nvSpPr>
        <p:spPr>
          <a:xfrm>
            <a:off x="2606040" y="3611880"/>
            <a:ext cx="187452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97480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luis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394106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 = "Civil"</a:t>
            </a:r>
            <a:endParaRPr lang="en-US" sz="1000" dirty="0"/>
          </a:p>
        </p:txBody>
      </p:sp>
      <p:sp>
        <p:nvSpPr>
          <p:cNvPr id="24" name="objeto-carlos"/>
          <p:cNvSpPr/>
          <p:nvPr/>
        </p:nvSpPr>
        <p:spPr>
          <a:xfrm>
            <a:off x="4937760" y="3611880"/>
            <a:ext cx="187452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0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394106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 = "Ing."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flipV="1">
            <a:off x="1536192" y="3172968"/>
            <a:ext cx="64008" cy="42062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28" name="Shape 26"/>
          <p:cNvSpPr/>
          <p:nvPr/>
        </p:nvSpPr>
        <p:spPr>
          <a:xfrm flipH="1" flipV="1">
            <a:off x="2286000" y="3172968"/>
            <a:ext cx="1261872" cy="42062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5879592" y="3172968"/>
            <a:ext cx="18288" cy="42062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30" name="leyenda"/>
          <p:cNvSpPr/>
          <p:nvPr/>
        </p:nvSpPr>
        <p:spPr>
          <a:xfrm>
            <a:off x="7223760" y="1143000"/>
            <a:ext cx="1325880" cy="16002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0920" y="1371600"/>
            <a:ext cx="502920" cy="91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7360920" y="14630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hereda de (clase → clase)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60920" y="2057400"/>
            <a:ext cx="502920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360920" y="21488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instancia de (objeto → clase)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29260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ana también tiene nombre y cédula: los hereda de Persona.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Cierre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Errores comunes</a:t>
            </a:r>
            <a:endParaRPr lang="en-US" sz="2600" dirty="0"/>
          </a:p>
        </p:txBody>
      </p:sp>
      <p:sp>
        <p:nvSpPr>
          <p:cNvPr id="4" name="error-1"/>
          <p:cNvSpPr/>
          <p:nvPr/>
        </p:nvSpPr>
        <p:spPr>
          <a:xfrm>
            <a:off x="594360" y="1143000"/>
            <a:ext cx="3886200" cy="10058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icono-FaExclamationTriangle"/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FaExclamation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395374"/>
            <a:ext cx="181051" cy="1810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234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Confundir clase con objeto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Decir “creé la clase Ana”. Ana es un objeto; la clase es Estudiante.</a:t>
            </a:r>
            <a:endParaRPr lang="en-US" sz="1200" dirty="0"/>
          </a:p>
        </p:txBody>
      </p:sp>
      <p:sp>
        <p:nvSpPr>
          <p:cNvPr id="8" name="error-2"/>
          <p:cNvSpPr/>
          <p:nvPr/>
        </p:nvSpPr>
        <p:spPr>
          <a:xfrm>
            <a:off x="4663440" y="1143000"/>
            <a:ext cx="3886200" cy="10058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icono-FaExclamationTriangle"/>
          <p:cNvSpPr/>
          <p:nvPr/>
        </p:nvSpPr>
        <p:spPr>
          <a:xfrm>
            <a:off x="4800600" y="128016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814" y="1395374"/>
            <a:ext cx="181051" cy="1810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234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Usar una referencia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Estudiante a = null; a.nombre = "Ana"; produce NullPointerException.</a:t>
            </a:r>
            <a:endParaRPr lang="en-US" sz="1200" dirty="0"/>
          </a:p>
        </p:txBody>
      </p:sp>
      <p:sp>
        <p:nvSpPr>
          <p:cNvPr id="12" name="error-3"/>
          <p:cNvSpPr/>
          <p:nvPr/>
        </p:nvSpPr>
        <p:spPr>
          <a:xfrm>
            <a:off x="594360" y="2286000"/>
            <a:ext cx="3886200" cy="10058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icono-FaExclamationTriangle"/>
          <p:cNvSpPr/>
          <p:nvPr/>
        </p:nvSpPr>
        <p:spPr>
          <a:xfrm>
            <a:off x="731520" y="242316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2" descr="FaExclamation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2538374"/>
            <a:ext cx="181051" cy="1810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377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Creer que c = a copia el objeto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Solo copia la referencia: los dos apuntan al mismo objeto.</a:t>
            </a:r>
            <a:endParaRPr lang="en-US" sz="1200" dirty="0"/>
          </a:p>
        </p:txBody>
      </p:sp>
      <p:sp>
        <p:nvSpPr>
          <p:cNvPr id="16" name="error-4"/>
          <p:cNvSpPr/>
          <p:nvPr/>
        </p:nvSpPr>
        <p:spPr>
          <a:xfrm>
            <a:off x="4663440" y="2286000"/>
            <a:ext cx="3886200" cy="10058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icono-FaExclamationTriangle"/>
          <p:cNvSpPr/>
          <p:nvPr/>
        </p:nvSpPr>
        <p:spPr>
          <a:xfrm>
            <a:off x="4800600" y="242316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3" descr="FaExclamationTriang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814" y="2538374"/>
            <a:ext cx="181051" cy="1810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49240" y="2377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Nombre de archivo distinto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public class Estudiante debe estar en Estudiante.java o no compila.</a:t>
            </a:r>
            <a:endParaRPr lang="en-US" sz="1200" dirty="0"/>
          </a:p>
        </p:txBody>
      </p:sp>
      <p:sp>
        <p:nvSpPr>
          <p:cNvPr id="20" name="error-5"/>
          <p:cNvSpPr/>
          <p:nvPr/>
        </p:nvSpPr>
        <p:spPr>
          <a:xfrm>
            <a:off x="594360" y="3429000"/>
            <a:ext cx="3886200" cy="10058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1" name="icono-FaExclamationTriangle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4" descr="FaExclamationTriang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" y="3681374"/>
            <a:ext cx="181051" cy="18105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80160" y="3520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Pensar que la herencia crea objetos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La herencia une clases. Los objetos se crean con new.</a:t>
            </a:r>
            <a:endParaRPr lang="en-US" sz="1200" dirty="0"/>
          </a:p>
        </p:txBody>
      </p:sp>
      <p:sp>
        <p:nvSpPr>
          <p:cNvPr id="24" name="error-6"/>
          <p:cNvSpPr/>
          <p:nvPr/>
        </p:nvSpPr>
        <p:spPr>
          <a:xfrm>
            <a:off x="4663440" y="3429000"/>
            <a:ext cx="3886200" cy="10058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5" name="icono-FaExclamationTriangle"/>
          <p:cNvSpPr/>
          <p:nvPr/>
        </p:nvSpPr>
        <p:spPr>
          <a:xfrm>
            <a:off x="4800600" y="356616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mage 5" descr="FaExclamationTriang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5814" y="3681374"/>
            <a:ext cx="181051" cy="18105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349240" y="3520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Atributos public por costumbre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Sin encapsular, cualquiera puede poner un saldo negativo.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Cierre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Trabajo autónomo y cierre</a:t>
            </a:r>
            <a:endParaRPr lang="en-US" sz="2600" dirty="0"/>
          </a:p>
        </p:txBody>
      </p:sp>
      <p:sp>
        <p:nvSpPr>
          <p:cNvPr id="4" name="trabajo-autonomo"/>
          <p:cNvSpPr/>
          <p:nvPr/>
        </p:nvSpPr>
        <p:spPr>
          <a:xfrm>
            <a:off x="594360" y="1188720"/>
            <a:ext cx="3886200" cy="32918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icono-FaPaw"/>
          <p:cNvSpPr/>
          <p:nvPr/>
        </p:nvSpPr>
        <p:spPr>
          <a:xfrm>
            <a:off x="77724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Pa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466698"/>
            <a:ext cx="221285" cy="2212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Trabajo autónomo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1168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Crea la clase Mascota con 5 atributos.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 main, crea 2 mascotas y asígnales sus atributos.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Antes de ejecutar, escribe la salida que esperas.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Entrega el proyecto y la salida predicha.</a:t>
            </a:r>
            <a:endParaRPr lang="en-US" sz="1300" dirty="0"/>
          </a:p>
        </p:txBody>
      </p:sp>
      <p:sp>
        <p:nvSpPr>
          <p:cNvPr id="9" name="cierre"/>
          <p:cNvSpPr/>
          <p:nvPr/>
        </p:nvSpPr>
        <p:spPr>
          <a:xfrm>
            <a:off x="4663440" y="1188720"/>
            <a:ext cx="3886200" cy="32918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icono-FaQuestion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FaQues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138" y="1466698"/>
            <a:ext cx="221285" cy="22128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Pregunta de cierre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201168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Explica con tus palabras, sin mirar las diapositivas, la diferencia entre: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clase y objeto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atributo y valor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objeto e instancia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herencia y polimorfismo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"/>
          <p:cNvSpPr txBox="1"/>
          <p:nvPr/>
        </p:nvSpPr>
        <p:spPr>
          <a:xfrm>
            <a:off x="4754880" y="36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Cierre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594360" y="4114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Referencias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097280"/>
            <a:ext cx="7955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[1] Oracle, “Lesson: Object-Oriented Programming Concepts,” The Java Tutorials. Accedido: 14 oct. 2026. [En línea]. Disponible: https://docs.oracle.com/javase/tutorial/java/concepts/index.html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[2] Oracle, “Lesson: Classes and Objects,” The Java Tutorials. Accedido: 14 oct. 2026. [En línea]. Disponible: https://docs.oracle.com/javase/tutorial/java/javaOO/index.html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[3] Oracle, “Controlling Access to Members of a Class,” The Java Tutorials. Accedido: 14 oct. 2026. [En línea]. Disponible: https://docs.oracle.com/javase/tutorial/java/javaOO/accesscontrol.html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[4] Oracle, “Inheritance,” The Java Tutorials. Accedido: 14 oct. 2026. [En línea]. Disponible: https://docs.oracle.com/javase/tutorial/java/IandI/subclasses.html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[5] Oracle, “Polymorphism,” The Java Tutorials. Accedido: 14 oct. 2026. [En línea]. Disponible: https://docs.oracle.com/javase/tutorial/java/IandI/polymorphism.html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[6] P. Deitel y H. Deitel, Cómo programar en Java, 10.ª ed. Ciudad de México, México: Pearson Educación, 2016.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[7] J. Sorva, “Notional machines and introductory programming education,” ACM Trans. Comput. Educ., vol. 13, no. 2, art. 8, pp. 1–31, jul. 2013, doi: 10.1145/2483710.2483713.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9744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ion POO">
  <a:themeElements>
    <a:clrScheme name="Sesion POO">
      <a:dk1>
        <a:srgbClr val="3F3F3F"/>
      </a:dk1>
      <a:lt1>
        <a:srgbClr val="FFFFFF"/>
      </a:lt1>
      <a:dk2>
        <a:srgbClr val="2B2B2B"/>
      </a:dk2>
      <a:lt2>
        <a:srgbClr val="E4EDE6"/>
      </a:lt2>
      <a:accent1>
        <a:srgbClr val="4F7F5C"/>
      </a:accent1>
      <a:accent2>
        <a:srgbClr val="3E7C7E"/>
      </a:accent2>
      <a:accent3>
        <a:srgbClr val="C27A2C"/>
      </a:accent3>
      <a:accent4>
        <a:srgbClr val="8FAE93"/>
      </a:accent4>
      <a:accent5>
        <a:srgbClr val="F2F6F3"/>
      </a:accent5>
      <a:accent6>
        <a:srgbClr val="6B6B6B"/>
      </a:accent6>
      <a:hlink>
        <a:srgbClr val="3E7C7E"/>
      </a:hlink>
      <a:folHlink>
        <a:srgbClr val="4F7F5C"/>
      </a:folHlink>
    </a:clrScheme>
    <a:fontScheme name="Sesion POO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2: Introducción a la POO</dc:title>
  <dc:subject>PptxGenJS Presentation</dc:subject>
  <dc:creator>Fher Dorian Calderón Carvajal</dc:creator>
  <cp:lastModifiedBy>Fher Dorian Calderón Carvajal</cp:lastModifiedBy>
  <cp:revision>1</cp:revision>
  <dcterms:created xsi:type="dcterms:W3CDTF">2026-10-15T02:27:07Z</dcterms:created>
  <dcterms:modified xsi:type="dcterms:W3CDTF">2026-10-15T02:27:07Z</dcterms:modified>
</cp:coreProperties>
</file>